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FFCC"/>
    <a:srgbClr val="CCECFF"/>
    <a:srgbClr val="FF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033" autoAdjust="0"/>
  </p:normalViewPr>
  <p:slideViewPr>
    <p:cSldViewPr snapToGrid="0">
      <p:cViewPr varScale="1">
        <p:scale>
          <a:sx n="78" d="100"/>
          <a:sy n="78" d="100"/>
        </p:scale>
        <p:origin x="216" y="-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8CBD1-8613-638B-51AA-C2E9B5910A0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78370A4-23A4-B1B1-00B4-3A6EC91CFD8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C86083D-282A-524D-667C-F2F0390C2489}"/>
              </a:ext>
            </a:extLst>
          </p:cNvPr>
          <p:cNvSpPr>
            <a:spLocks noGrp="1"/>
          </p:cNvSpPr>
          <p:nvPr>
            <p:ph type="dt" sz="half" idx="10"/>
          </p:nvPr>
        </p:nvSpPr>
        <p:spPr/>
        <p:txBody>
          <a:bodyPr/>
          <a:lstStyle/>
          <a:p>
            <a:fld id="{50ED2AA6-7438-4275-A6B3-18B209EAB615}" type="datetimeFigureOut">
              <a:rPr lang="en-IN" smtClean="0"/>
              <a:t>25-04-2026</a:t>
            </a:fld>
            <a:endParaRPr lang="en-IN"/>
          </a:p>
        </p:txBody>
      </p:sp>
      <p:sp>
        <p:nvSpPr>
          <p:cNvPr id="5" name="Footer Placeholder 4">
            <a:extLst>
              <a:ext uri="{FF2B5EF4-FFF2-40B4-BE49-F238E27FC236}">
                <a16:creationId xmlns:a16="http://schemas.microsoft.com/office/drawing/2014/main" id="{DAE7BCFE-8EDA-15DA-EB67-1C185CFE1C6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B19A284-EB13-1595-E161-298BC0A70529}"/>
              </a:ext>
            </a:extLst>
          </p:cNvPr>
          <p:cNvSpPr>
            <a:spLocks noGrp="1"/>
          </p:cNvSpPr>
          <p:nvPr>
            <p:ph type="sldNum" sz="quarter" idx="12"/>
          </p:nvPr>
        </p:nvSpPr>
        <p:spPr/>
        <p:txBody>
          <a:bodyPr/>
          <a:lstStyle/>
          <a:p>
            <a:fld id="{FCC227A0-2092-43C7-AE29-59B67D41AA47}" type="slidenum">
              <a:rPr lang="en-IN" smtClean="0"/>
              <a:t>‹#›</a:t>
            </a:fld>
            <a:endParaRPr lang="en-IN"/>
          </a:p>
        </p:txBody>
      </p:sp>
    </p:spTree>
    <p:extLst>
      <p:ext uri="{BB962C8B-B14F-4D97-AF65-F5344CB8AC3E}">
        <p14:creationId xmlns:p14="http://schemas.microsoft.com/office/powerpoint/2010/main" val="483463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82E63-2198-2118-4E73-A40CDB470EE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2B5E48B-1706-9F17-2D11-2CD34203BB2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0DBA5B2-9340-7F07-AAFC-5AF5CC0C2D43}"/>
              </a:ext>
            </a:extLst>
          </p:cNvPr>
          <p:cNvSpPr>
            <a:spLocks noGrp="1"/>
          </p:cNvSpPr>
          <p:nvPr>
            <p:ph type="dt" sz="half" idx="10"/>
          </p:nvPr>
        </p:nvSpPr>
        <p:spPr/>
        <p:txBody>
          <a:bodyPr/>
          <a:lstStyle/>
          <a:p>
            <a:fld id="{50ED2AA6-7438-4275-A6B3-18B209EAB615}" type="datetimeFigureOut">
              <a:rPr lang="en-IN" smtClean="0"/>
              <a:t>25-04-2026</a:t>
            </a:fld>
            <a:endParaRPr lang="en-IN"/>
          </a:p>
        </p:txBody>
      </p:sp>
      <p:sp>
        <p:nvSpPr>
          <p:cNvPr id="5" name="Footer Placeholder 4">
            <a:extLst>
              <a:ext uri="{FF2B5EF4-FFF2-40B4-BE49-F238E27FC236}">
                <a16:creationId xmlns:a16="http://schemas.microsoft.com/office/drawing/2014/main" id="{EDCD9CA5-3F62-A9FE-A613-3457063B726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1D213E7-8192-5951-0C4D-5BEEA475B435}"/>
              </a:ext>
            </a:extLst>
          </p:cNvPr>
          <p:cNvSpPr>
            <a:spLocks noGrp="1"/>
          </p:cNvSpPr>
          <p:nvPr>
            <p:ph type="sldNum" sz="quarter" idx="12"/>
          </p:nvPr>
        </p:nvSpPr>
        <p:spPr/>
        <p:txBody>
          <a:bodyPr/>
          <a:lstStyle/>
          <a:p>
            <a:fld id="{FCC227A0-2092-43C7-AE29-59B67D41AA47}" type="slidenum">
              <a:rPr lang="en-IN" smtClean="0"/>
              <a:t>‹#›</a:t>
            </a:fld>
            <a:endParaRPr lang="en-IN"/>
          </a:p>
        </p:txBody>
      </p:sp>
    </p:spTree>
    <p:extLst>
      <p:ext uri="{BB962C8B-B14F-4D97-AF65-F5344CB8AC3E}">
        <p14:creationId xmlns:p14="http://schemas.microsoft.com/office/powerpoint/2010/main" val="7060161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A295A-5A83-8BCC-FD11-3FD38889C3B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4C0EA22-CB06-E5A1-880C-19C682BCFA2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DAFC2F7-1684-8B75-18F1-A2DB50B15C7B}"/>
              </a:ext>
            </a:extLst>
          </p:cNvPr>
          <p:cNvSpPr>
            <a:spLocks noGrp="1"/>
          </p:cNvSpPr>
          <p:nvPr>
            <p:ph type="dt" sz="half" idx="10"/>
          </p:nvPr>
        </p:nvSpPr>
        <p:spPr/>
        <p:txBody>
          <a:bodyPr/>
          <a:lstStyle/>
          <a:p>
            <a:fld id="{50ED2AA6-7438-4275-A6B3-18B209EAB615}" type="datetimeFigureOut">
              <a:rPr lang="en-IN" smtClean="0"/>
              <a:t>25-04-2026</a:t>
            </a:fld>
            <a:endParaRPr lang="en-IN"/>
          </a:p>
        </p:txBody>
      </p:sp>
      <p:sp>
        <p:nvSpPr>
          <p:cNvPr id="5" name="Footer Placeholder 4">
            <a:extLst>
              <a:ext uri="{FF2B5EF4-FFF2-40B4-BE49-F238E27FC236}">
                <a16:creationId xmlns:a16="http://schemas.microsoft.com/office/drawing/2014/main" id="{148266F3-F5B1-8AD2-4757-E01E7D6C062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4DADC21-713C-0B80-7258-93227603013A}"/>
              </a:ext>
            </a:extLst>
          </p:cNvPr>
          <p:cNvSpPr>
            <a:spLocks noGrp="1"/>
          </p:cNvSpPr>
          <p:nvPr>
            <p:ph type="sldNum" sz="quarter" idx="12"/>
          </p:nvPr>
        </p:nvSpPr>
        <p:spPr/>
        <p:txBody>
          <a:bodyPr/>
          <a:lstStyle/>
          <a:p>
            <a:fld id="{FCC227A0-2092-43C7-AE29-59B67D41AA47}" type="slidenum">
              <a:rPr lang="en-IN" smtClean="0"/>
              <a:t>‹#›</a:t>
            </a:fld>
            <a:endParaRPr lang="en-IN"/>
          </a:p>
        </p:txBody>
      </p:sp>
    </p:spTree>
    <p:extLst>
      <p:ext uri="{BB962C8B-B14F-4D97-AF65-F5344CB8AC3E}">
        <p14:creationId xmlns:p14="http://schemas.microsoft.com/office/powerpoint/2010/main" val="279786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472E6-12DD-BE51-CE76-54CF0152F90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B75D510-9D03-ACE2-3FF3-F00424894B5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E75BA0E-5A62-1245-6292-DBB3A8B22DE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9F33A85-6DDC-D4A8-A825-5C3C35497614}"/>
              </a:ext>
            </a:extLst>
          </p:cNvPr>
          <p:cNvSpPr>
            <a:spLocks noGrp="1"/>
          </p:cNvSpPr>
          <p:nvPr>
            <p:ph type="dt" sz="half" idx="10"/>
          </p:nvPr>
        </p:nvSpPr>
        <p:spPr/>
        <p:txBody>
          <a:bodyPr/>
          <a:lstStyle/>
          <a:p>
            <a:fld id="{50ED2AA6-7438-4275-A6B3-18B209EAB615}" type="datetimeFigureOut">
              <a:rPr lang="en-IN" smtClean="0"/>
              <a:t>25-04-2026</a:t>
            </a:fld>
            <a:endParaRPr lang="en-IN"/>
          </a:p>
        </p:txBody>
      </p:sp>
      <p:sp>
        <p:nvSpPr>
          <p:cNvPr id="6" name="Footer Placeholder 5">
            <a:extLst>
              <a:ext uri="{FF2B5EF4-FFF2-40B4-BE49-F238E27FC236}">
                <a16:creationId xmlns:a16="http://schemas.microsoft.com/office/drawing/2014/main" id="{D5EEF09F-E1DF-1389-2005-9BF8C7B94D8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8110F25-B9EC-BF7F-C0F0-8A21E68A6B76}"/>
              </a:ext>
            </a:extLst>
          </p:cNvPr>
          <p:cNvSpPr>
            <a:spLocks noGrp="1"/>
          </p:cNvSpPr>
          <p:nvPr>
            <p:ph type="sldNum" sz="quarter" idx="12"/>
          </p:nvPr>
        </p:nvSpPr>
        <p:spPr/>
        <p:txBody>
          <a:bodyPr/>
          <a:lstStyle/>
          <a:p>
            <a:fld id="{FCC227A0-2092-43C7-AE29-59B67D41AA47}" type="slidenum">
              <a:rPr lang="en-IN" smtClean="0"/>
              <a:t>‹#›</a:t>
            </a:fld>
            <a:endParaRPr lang="en-IN"/>
          </a:p>
        </p:txBody>
      </p:sp>
    </p:spTree>
    <p:extLst>
      <p:ext uri="{BB962C8B-B14F-4D97-AF65-F5344CB8AC3E}">
        <p14:creationId xmlns:p14="http://schemas.microsoft.com/office/powerpoint/2010/main" val="1323494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DD31D-90D5-B33D-5DC0-D208F748A94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40FA3B2-7700-D4F7-D917-EE98044FDC7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D400C24-74A7-9018-3C71-E29E4A20E0E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366188C-5B70-1649-299C-6CC394B2138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A9C6844-25F6-1DE1-280D-87D24ED66A5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439C7AE-ACAC-0924-BCD8-10BE7732A3A8}"/>
              </a:ext>
            </a:extLst>
          </p:cNvPr>
          <p:cNvSpPr>
            <a:spLocks noGrp="1"/>
          </p:cNvSpPr>
          <p:nvPr>
            <p:ph type="dt" sz="half" idx="10"/>
          </p:nvPr>
        </p:nvSpPr>
        <p:spPr/>
        <p:txBody>
          <a:bodyPr/>
          <a:lstStyle/>
          <a:p>
            <a:fld id="{50ED2AA6-7438-4275-A6B3-18B209EAB615}" type="datetimeFigureOut">
              <a:rPr lang="en-IN" smtClean="0"/>
              <a:t>25-04-2026</a:t>
            </a:fld>
            <a:endParaRPr lang="en-IN"/>
          </a:p>
        </p:txBody>
      </p:sp>
      <p:sp>
        <p:nvSpPr>
          <p:cNvPr id="8" name="Footer Placeholder 7">
            <a:extLst>
              <a:ext uri="{FF2B5EF4-FFF2-40B4-BE49-F238E27FC236}">
                <a16:creationId xmlns:a16="http://schemas.microsoft.com/office/drawing/2014/main" id="{8EEC7FD7-6164-AF16-D8D9-C8F0EA32B0C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7A882CC-8AC5-AF98-6A40-EDF66D706E71}"/>
              </a:ext>
            </a:extLst>
          </p:cNvPr>
          <p:cNvSpPr>
            <a:spLocks noGrp="1"/>
          </p:cNvSpPr>
          <p:nvPr>
            <p:ph type="sldNum" sz="quarter" idx="12"/>
          </p:nvPr>
        </p:nvSpPr>
        <p:spPr/>
        <p:txBody>
          <a:bodyPr/>
          <a:lstStyle/>
          <a:p>
            <a:fld id="{FCC227A0-2092-43C7-AE29-59B67D41AA47}" type="slidenum">
              <a:rPr lang="en-IN" smtClean="0"/>
              <a:t>‹#›</a:t>
            </a:fld>
            <a:endParaRPr lang="en-IN"/>
          </a:p>
        </p:txBody>
      </p:sp>
    </p:spTree>
    <p:extLst>
      <p:ext uri="{BB962C8B-B14F-4D97-AF65-F5344CB8AC3E}">
        <p14:creationId xmlns:p14="http://schemas.microsoft.com/office/powerpoint/2010/main" val="885769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37267-8378-54A3-5882-0D82D90426E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8160A1D-DC4E-9B90-10FC-A7F7E1ABE277}"/>
              </a:ext>
            </a:extLst>
          </p:cNvPr>
          <p:cNvSpPr>
            <a:spLocks noGrp="1"/>
          </p:cNvSpPr>
          <p:nvPr>
            <p:ph type="dt" sz="half" idx="10"/>
          </p:nvPr>
        </p:nvSpPr>
        <p:spPr/>
        <p:txBody>
          <a:bodyPr/>
          <a:lstStyle/>
          <a:p>
            <a:fld id="{50ED2AA6-7438-4275-A6B3-18B209EAB615}" type="datetimeFigureOut">
              <a:rPr lang="en-IN" smtClean="0"/>
              <a:t>25-04-2026</a:t>
            </a:fld>
            <a:endParaRPr lang="en-IN"/>
          </a:p>
        </p:txBody>
      </p:sp>
      <p:sp>
        <p:nvSpPr>
          <p:cNvPr id="4" name="Footer Placeholder 3">
            <a:extLst>
              <a:ext uri="{FF2B5EF4-FFF2-40B4-BE49-F238E27FC236}">
                <a16:creationId xmlns:a16="http://schemas.microsoft.com/office/drawing/2014/main" id="{58349C76-E2EA-8658-6440-4139E79BCD4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049A304-5268-3BE8-8272-91CF725F0C20}"/>
              </a:ext>
            </a:extLst>
          </p:cNvPr>
          <p:cNvSpPr>
            <a:spLocks noGrp="1"/>
          </p:cNvSpPr>
          <p:nvPr>
            <p:ph type="sldNum" sz="quarter" idx="12"/>
          </p:nvPr>
        </p:nvSpPr>
        <p:spPr/>
        <p:txBody>
          <a:bodyPr/>
          <a:lstStyle/>
          <a:p>
            <a:fld id="{FCC227A0-2092-43C7-AE29-59B67D41AA47}" type="slidenum">
              <a:rPr lang="en-IN" smtClean="0"/>
              <a:t>‹#›</a:t>
            </a:fld>
            <a:endParaRPr lang="en-IN"/>
          </a:p>
        </p:txBody>
      </p:sp>
    </p:spTree>
    <p:extLst>
      <p:ext uri="{BB962C8B-B14F-4D97-AF65-F5344CB8AC3E}">
        <p14:creationId xmlns:p14="http://schemas.microsoft.com/office/powerpoint/2010/main" val="5397323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0AC586E-557D-A60B-8026-A05997EE7A12}"/>
              </a:ext>
            </a:extLst>
          </p:cNvPr>
          <p:cNvSpPr>
            <a:spLocks noGrp="1"/>
          </p:cNvSpPr>
          <p:nvPr>
            <p:ph type="dt" sz="half" idx="10"/>
          </p:nvPr>
        </p:nvSpPr>
        <p:spPr/>
        <p:txBody>
          <a:bodyPr/>
          <a:lstStyle/>
          <a:p>
            <a:fld id="{50ED2AA6-7438-4275-A6B3-18B209EAB615}" type="datetimeFigureOut">
              <a:rPr lang="en-IN" smtClean="0"/>
              <a:t>25-04-2026</a:t>
            </a:fld>
            <a:endParaRPr lang="en-IN"/>
          </a:p>
        </p:txBody>
      </p:sp>
      <p:sp>
        <p:nvSpPr>
          <p:cNvPr id="3" name="Footer Placeholder 2">
            <a:extLst>
              <a:ext uri="{FF2B5EF4-FFF2-40B4-BE49-F238E27FC236}">
                <a16:creationId xmlns:a16="http://schemas.microsoft.com/office/drawing/2014/main" id="{A0972761-65BC-5AC7-4EAC-B2CA02AE4EE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D0B9CDE-4CB1-B7C5-7C05-087CC093FDF5}"/>
              </a:ext>
            </a:extLst>
          </p:cNvPr>
          <p:cNvSpPr>
            <a:spLocks noGrp="1"/>
          </p:cNvSpPr>
          <p:nvPr>
            <p:ph type="sldNum" sz="quarter" idx="12"/>
          </p:nvPr>
        </p:nvSpPr>
        <p:spPr/>
        <p:txBody>
          <a:bodyPr/>
          <a:lstStyle/>
          <a:p>
            <a:fld id="{FCC227A0-2092-43C7-AE29-59B67D41AA47}" type="slidenum">
              <a:rPr lang="en-IN" smtClean="0"/>
              <a:t>‹#›</a:t>
            </a:fld>
            <a:endParaRPr lang="en-IN"/>
          </a:p>
        </p:txBody>
      </p:sp>
    </p:spTree>
    <p:extLst>
      <p:ext uri="{BB962C8B-B14F-4D97-AF65-F5344CB8AC3E}">
        <p14:creationId xmlns:p14="http://schemas.microsoft.com/office/powerpoint/2010/main" val="1762087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0DB46-4841-0F3E-9A38-A3EFB13426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10849BB-A1AD-946D-D1C6-3BA6B00FA48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14428ED-9FFE-4A7B-61F4-812FE71DDC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FE9F5E8-6402-1C8B-370B-7DAD93C1287A}"/>
              </a:ext>
            </a:extLst>
          </p:cNvPr>
          <p:cNvSpPr>
            <a:spLocks noGrp="1"/>
          </p:cNvSpPr>
          <p:nvPr>
            <p:ph type="dt" sz="half" idx="10"/>
          </p:nvPr>
        </p:nvSpPr>
        <p:spPr/>
        <p:txBody>
          <a:bodyPr/>
          <a:lstStyle/>
          <a:p>
            <a:fld id="{50ED2AA6-7438-4275-A6B3-18B209EAB615}" type="datetimeFigureOut">
              <a:rPr lang="en-IN" smtClean="0"/>
              <a:t>25-04-2026</a:t>
            </a:fld>
            <a:endParaRPr lang="en-IN"/>
          </a:p>
        </p:txBody>
      </p:sp>
      <p:sp>
        <p:nvSpPr>
          <p:cNvPr id="6" name="Footer Placeholder 5">
            <a:extLst>
              <a:ext uri="{FF2B5EF4-FFF2-40B4-BE49-F238E27FC236}">
                <a16:creationId xmlns:a16="http://schemas.microsoft.com/office/drawing/2014/main" id="{7B13BAEA-9047-2430-D70D-F4E7CC83ACE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5AA5464-83A1-2397-8B3A-91C18498EB92}"/>
              </a:ext>
            </a:extLst>
          </p:cNvPr>
          <p:cNvSpPr>
            <a:spLocks noGrp="1"/>
          </p:cNvSpPr>
          <p:nvPr>
            <p:ph type="sldNum" sz="quarter" idx="12"/>
          </p:nvPr>
        </p:nvSpPr>
        <p:spPr/>
        <p:txBody>
          <a:bodyPr/>
          <a:lstStyle/>
          <a:p>
            <a:fld id="{FCC227A0-2092-43C7-AE29-59B67D41AA47}" type="slidenum">
              <a:rPr lang="en-IN" smtClean="0"/>
              <a:t>‹#›</a:t>
            </a:fld>
            <a:endParaRPr lang="en-IN"/>
          </a:p>
        </p:txBody>
      </p:sp>
    </p:spTree>
    <p:extLst>
      <p:ext uri="{BB962C8B-B14F-4D97-AF65-F5344CB8AC3E}">
        <p14:creationId xmlns:p14="http://schemas.microsoft.com/office/powerpoint/2010/main" val="39875369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9D15E-C215-4283-3C54-696E4B481A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0607759-EC3E-42AE-6221-FD127248A61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EF833BC-5069-38B9-24F1-AAC24A3695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BD837F-8658-EBE8-34F5-330E41A51E92}"/>
              </a:ext>
            </a:extLst>
          </p:cNvPr>
          <p:cNvSpPr>
            <a:spLocks noGrp="1"/>
          </p:cNvSpPr>
          <p:nvPr>
            <p:ph type="dt" sz="half" idx="10"/>
          </p:nvPr>
        </p:nvSpPr>
        <p:spPr/>
        <p:txBody>
          <a:bodyPr/>
          <a:lstStyle/>
          <a:p>
            <a:fld id="{50ED2AA6-7438-4275-A6B3-18B209EAB615}" type="datetimeFigureOut">
              <a:rPr lang="en-IN" smtClean="0"/>
              <a:t>25-04-2026</a:t>
            </a:fld>
            <a:endParaRPr lang="en-IN"/>
          </a:p>
        </p:txBody>
      </p:sp>
      <p:sp>
        <p:nvSpPr>
          <p:cNvPr id="6" name="Footer Placeholder 5">
            <a:extLst>
              <a:ext uri="{FF2B5EF4-FFF2-40B4-BE49-F238E27FC236}">
                <a16:creationId xmlns:a16="http://schemas.microsoft.com/office/drawing/2014/main" id="{B8FDE338-D7C2-8C0A-912F-635810FF133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E55F2DA-C104-4C5A-CD24-40E8157B1140}"/>
              </a:ext>
            </a:extLst>
          </p:cNvPr>
          <p:cNvSpPr>
            <a:spLocks noGrp="1"/>
          </p:cNvSpPr>
          <p:nvPr>
            <p:ph type="sldNum" sz="quarter" idx="12"/>
          </p:nvPr>
        </p:nvSpPr>
        <p:spPr/>
        <p:txBody>
          <a:bodyPr/>
          <a:lstStyle/>
          <a:p>
            <a:fld id="{FCC227A0-2092-43C7-AE29-59B67D41AA47}" type="slidenum">
              <a:rPr lang="en-IN" smtClean="0"/>
              <a:t>‹#›</a:t>
            </a:fld>
            <a:endParaRPr lang="en-IN"/>
          </a:p>
        </p:txBody>
      </p:sp>
    </p:spTree>
    <p:extLst>
      <p:ext uri="{BB962C8B-B14F-4D97-AF65-F5344CB8AC3E}">
        <p14:creationId xmlns:p14="http://schemas.microsoft.com/office/powerpoint/2010/main" val="31848514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ADAAE-2F38-5B8D-406D-AA680B6F371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9111C98-A002-5ED0-44B9-B478D9509FF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55F83C0-5EA7-7612-51CA-5B75F7283E90}"/>
              </a:ext>
            </a:extLst>
          </p:cNvPr>
          <p:cNvSpPr>
            <a:spLocks noGrp="1"/>
          </p:cNvSpPr>
          <p:nvPr>
            <p:ph type="dt" sz="half" idx="10"/>
          </p:nvPr>
        </p:nvSpPr>
        <p:spPr/>
        <p:txBody>
          <a:bodyPr/>
          <a:lstStyle/>
          <a:p>
            <a:fld id="{50ED2AA6-7438-4275-A6B3-18B209EAB615}" type="datetimeFigureOut">
              <a:rPr lang="en-IN" smtClean="0"/>
              <a:t>25-04-2026</a:t>
            </a:fld>
            <a:endParaRPr lang="en-IN"/>
          </a:p>
        </p:txBody>
      </p:sp>
      <p:sp>
        <p:nvSpPr>
          <p:cNvPr id="5" name="Footer Placeholder 4">
            <a:extLst>
              <a:ext uri="{FF2B5EF4-FFF2-40B4-BE49-F238E27FC236}">
                <a16:creationId xmlns:a16="http://schemas.microsoft.com/office/drawing/2014/main" id="{2FD08550-15DB-8CC3-9CDF-2BE2A46A58F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D549BB8-D575-C7DB-581E-303AF94969C4}"/>
              </a:ext>
            </a:extLst>
          </p:cNvPr>
          <p:cNvSpPr>
            <a:spLocks noGrp="1"/>
          </p:cNvSpPr>
          <p:nvPr>
            <p:ph type="sldNum" sz="quarter" idx="12"/>
          </p:nvPr>
        </p:nvSpPr>
        <p:spPr/>
        <p:txBody>
          <a:bodyPr/>
          <a:lstStyle/>
          <a:p>
            <a:fld id="{FCC227A0-2092-43C7-AE29-59B67D41AA47}" type="slidenum">
              <a:rPr lang="en-IN" smtClean="0"/>
              <a:t>‹#›</a:t>
            </a:fld>
            <a:endParaRPr lang="en-IN"/>
          </a:p>
        </p:txBody>
      </p:sp>
    </p:spTree>
    <p:extLst>
      <p:ext uri="{BB962C8B-B14F-4D97-AF65-F5344CB8AC3E}">
        <p14:creationId xmlns:p14="http://schemas.microsoft.com/office/powerpoint/2010/main" val="15398117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04A2324-1130-6DB7-CCCF-C9B4D1E6894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0CA6F7E-368B-2889-73B5-46B8A291FE5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66ECE62-B7EA-AB3D-167F-7A721181A440}"/>
              </a:ext>
            </a:extLst>
          </p:cNvPr>
          <p:cNvSpPr>
            <a:spLocks noGrp="1"/>
          </p:cNvSpPr>
          <p:nvPr>
            <p:ph type="dt" sz="half" idx="10"/>
          </p:nvPr>
        </p:nvSpPr>
        <p:spPr/>
        <p:txBody>
          <a:bodyPr/>
          <a:lstStyle/>
          <a:p>
            <a:fld id="{50ED2AA6-7438-4275-A6B3-18B209EAB615}" type="datetimeFigureOut">
              <a:rPr lang="en-IN" smtClean="0"/>
              <a:t>25-04-2026</a:t>
            </a:fld>
            <a:endParaRPr lang="en-IN"/>
          </a:p>
        </p:txBody>
      </p:sp>
      <p:sp>
        <p:nvSpPr>
          <p:cNvPr id="5" name="Footer Placeholder 4">
            <a:extLst>
              <a:ext uri="{FF2B5EF4-FFF2-40B4-BE49-F238E27FC236}">
                <a16:creationId xmlns:a16="http://schemas.microsoft.com/office/drawing/2014/main" id="{8BE5DB29-6328-7302-1985-90AC5584EF0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67431A1-6225-54A5-F35B-93C217186D80}"/>
              </a:ext>
            </a:extLst>
          </p:cNvPr>
          <p:cNvSpPr>
            <a:spLocks noGrp="1"/>
          </p:cNvSpPr>
          <p:nvPr>
            <p:ph type="sldNum" sz="quarter" idx="12"/>
          </p:nvPr>
        </p:nvSpPr>
        <p:spPr/>
        <p:txBody>
          <a:bodyPr/>
          <a:lstStyle/>
          <a:p>
            <a:fld id="{FCC227A0-2092-43C7-AE29-59B67D41AA47}" type="slidenum">
              <a:rPr lang="en-IN" smtClean="0"/>
              <a:t>‹#›</a:t>
            </a:fld>
            <a:endParaRPr lang="en-IN"/>
          </a:p>
        </p:txBody>
      </p:sp>
    </p:spTree>
    <p:extLst>
      <p:ext uri="{BB962C8B-B14F-4D97-AF65-F5344CB8AC3E}">
        <p14:creationId xmlns:p14="http://schemas.microsoft.com/office/powerpoint/2010/main" val="9750923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6F12A07-94E4-5A83-315F-645DED5C304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CEB661D-039B-48F3-B840-0D18192F976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3C10B3E-14E1-D73A-65E5-2091095418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0ED2AA6-7438-4275-A6B3-18B209EAB615}" type="datetimeFigureOut">
              <a:rPr lang="en-IN" smtClean="0"/>
              <a:t>25-04-2026</a:t>
            </a:fld>
            <a:endParaRPr lang="en-IN"/>
          </a:p>
        </p:txBody>
      </p:sp>
      <p:sp>
        <p:nvSpPr>
          <p:cNvPr id="5" name="Footer Placeholder 4">
            <a:extLst>
              <a:ext uri="{FF2B5EF4-FFF2-40B4-BE49-F238E27FC236}">
                <a16:creationId xmlns:a16="http://schemas.microsoft.com/office/drawing/2014/main" id="{BECD6400-EC5D-2D11-ADCC-72E461E81BC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B8882DC-20E1-06D7-FC2C-435BFE0C067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C227A0-2092-43C7-AE29-59B67D41AA47}" type="slidenum">
              <a:rPr lang="en-IN" smtClean="0"/>
              <a:t>‹#›</a:t>
            </a:fld>
            <a:endParaRPr lang="en-IN"/>
          </a:p>
        </p:txBody>
      </p:sp>
    </p:spTree>
    <p:extLst>
      <p:ext uri="{BB962C8B-B14F-4D97-AF65-F5344CB8AC3E}">
        <p14:creationId xmlns:p14="http://schemas.microsoft.com/office/powerpoint/2010/main" val="8190989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sv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100000">
              <a:srgbClr val="CCECFF"/>
            </a:gs>
            <a:gs pos="18000">
              <a:srgbClr val="FFCCFF"/>
            </a:gs>
          </a:gsLst>
          <a:lin ang="5400000" scaled="1"/>
        </a:gradFill>
        <a:effectLst/>
      </p:bgPr>
    </p:bg>
    <p:spTree>
      <p:nvGrpSpPr>
        <p:cNvPr id="1" name=""/>
        <p:cNvGrpSpPr/>
        <p:nvPr/>
      </p:nvGrpSpPr>
      <p:grpSpPr>
        <a:xfrm>
          <a:off x="0" y="0"/>
          <a:ext cx="0" cy="0"/>
          <a:chOff x="0" y="0"/>
          <a:chExt cx="0" cy="0"/>
        </a:xfrm>
      </p:grpSpPr>
      <p:sp>
        <p:nvSpPr>
          <p:cNvPr id="6" name="Text 0">
            <a:extLst>
              <a:ext uri="{FF2B5EF4-FFF2-40B4-BE49-F238E27FC236}">
                <a16:creationId xmlns:a16="http://schemas.microsoft.com/office/drawing/2014/main" id="{2F98140E-A08F-B6BC-EA3B-EE4357B60AF2}"/>
              </a:ext>
            </a:extLst>
          </p:cNvPr>
          <p:cNvSpPr/>
          <p:nvPr/>
        </p:nvSpPr>
        <p:spPr>
          <a:xfrm>
            <a:off x="4266457" y="812405"/>
            <a:ext cx="4961811" cy="620078"/>
          </a:xfrm>
          <a:prstGeom prst="rect">
            <a:avLst/>
          </a:prstGeom>
          <a:noFill/>
          <a:ln/>
        </p:spPr>
        <p:txBody>
          <a:bodyPr wrap="none" lIns="0" tIns="0" rIns="0" bIns="0" rtlCol="0" anchor="t"/>
          <a:lstStyle/>
          <a:p>
            <a:pPr marL="0" indent="0" algn="l">
              <a:lnSpc>
                <a:spcPts val="4850"/>
              </a:lnSpc>
              <a:buNone/>
            </a:pPr>
            <a:r>
              <a:rPr lang="en-US" sz="2800" dirty="0">
                <a:solidFill>
                  <a:srgbClr val="3F6FF3"/>
                </a:solidFill>
                <a:latin typeface="Outfit Medium" pitchFamily="34" charset="0"/>
                <a:ea typeface="Outfit Medium" pitchFamily="34" charset="-122"/>
                <a:cs typeface="Outfit Medium" pitchFamily="34" charset="-120"/>
              </a:rPr>
              <a:t>Nethikes IT Solutions</a:t>
            </a:r>
            <a:endParaRPr lang="en-US" sz="2800" dirty="0"/>
          </a:p>
        </p:txBody>
      </p:sp>
      <p:sp>
        <p:nvSpPr>
          <p:cNvPr id="7" name="Text 1">
            <a:extLst>
              <a:ext uri="{FF2B5EF4-FFF2-40B4-BE49-F238E27FC236}">
                <a16:creationId xmlns:a16="http://schemas.microsoft.com/office/drawing/2014/main" id="{9DD7D469-13F3-35E5-34C7-B2FED89F8CDA}"/>
              </a:ext>
            </a:extLst>
          </p:cNvPr>
          <p:cNvSpPr/>
          <p:nvPr/>
        </p:nvSpPr>
        <p:spPr>
          <a:xfrm>
            <a:off x="4266457" y="2491382"/>
            <a:ext cx="6753939" cy="620078"/>
          </a:xfrm>
          <a:prstGeom prst="rect">
            <a:avLst/>
          </a:prstGeom>
          <a:noFill/>
          <a:ln/>
        </p:spPr>
        <p:txBody>
          <a:bodyPr wrap="none" lIns="0" tIns="0" rIns="0" bIns="0" rtlCol="0" anchor="t"/>
          <a:lstStyle/>
          <a:p>
            <a:pPr marL="0" indent="0" algn="l">
              <a:lnSpc>
                <a:spcPts val="4850"/>
              </a:lnSpc>
              <a:buNone/>
            </a:pPr>
            <a:r>
              <a:rPr lang="en-US" sz="3900" dirty="0">
                <a:solidFill>
                  <a:srgbClr val="3F6FF3"/>
                </a:solidFill>
                <a:latin typeface="Outfit Medium" pitchFamily="34" charset="0"/>
                <a:ea typeface="Outfit Medium" pitchFamily="34" charset="-122"/>
                <a:cs typeface="Outfit Medium" pitchFamily="34" charset="-120"/>
              </a:rPr>
              <a:t>Mobile Phone Dataset Analysis</a:t>
            </a:r>
            <a:endParaRPr lang="en-US" sz="3900" dirty="0"/>
          </a:p>
        </p:txBody>
      </p:sp>
      <p:sp>
        <p:nvSpPr>
          <p:cNvPr id="8" name="Text 2">
            <a:extLst>
              <a:ext uri="{FF2B5EF4-FFF2-40B4-BE49-F238E27FC236}">
                <a16:creationId xmlns:a16="http://schemas.microsoft.com/office/drawing/2014/main" id="{45C45421-E1F8-5F87-1576-9898C929940C}"/>
              </a:ext>
            </a:extLst>
          </p:cNvPr>
          <p:cNvSpPr/>
          <p:nvPr/>
        </p:nvSpPr>
        <p:spPr>
          <a:xfrm>
            <a:off x="4266457" y="3111460"/>
            <a:ext cx="7556421" cy="635079"/>
          </a:xfrm>
          <a:prstGeom prst="rect">
            <a:avLst/>
          </a:prstGeom>
          <a:noFill/>
          <a:ln/>
        </p:spPr>
        <p:txBody>
          <a:bodyPr wrap="square" lIns="0" tIns="0" rIns="0" bIns="0" rtlCol="0" anchor="t"/>
          <a:lstStyle/>
          <a:p>
            <a:pPr marL="0" indent="0" algn="l">
              <a:lnSpc>
                <a:spcPts val="2500"/>
              </a:lnSpc>
              <a:buNone/>
            </a:pPr>
            <a:r>
              <a:rPr lang="en-US" sz="1550" dirty="0">
                <a:solidFill>
                  <a:srgbClr val="666666"/>
                </a:solidFill>
                <a:latin typeface="IBM Plex Sans" pitchFamily="34" charset="0"/>
                <a:ea typeface="IBM Plex Sans" pitchFamily="34" charset="-122"/>
                <a:cs typeface="IBM Plex Sans" pitchFamily="34" charset="-120"/>
              </a:rPr>
              <a:t>Comprehensive exploratory data analysis of 541 smartphone specifications across 12 features including brand, memory, camera, battery, and pricing</a:t>
            </a:r>
            <a:endParaRPr lang="en-US" sz="1550" dirty="0"/>
          </a:p>
        </p:txBody>
      </p:sp>
      <p:sp>
        <p:nvSpPr>
          <p:cNvPr id="9" name="Text 3">
            <a:extLst>
              <a:ext uri="{FF2B5EF4-FFF2-40B4-BE49-F238E27FC236}">
                <a16:creationId xmlns:a16="http://schemas.microsoft.com/office/drawing/2014/main" id="{73CB3955-49A9-A1D7-6030-5F476B4B66FC}"/>
              </a:ext>
            </a:extLst>
          </p:cNvPr>
          <p:cNvSpPr/>
          <p:nvPr/>
        </p:nvSpPr>
        <p:spPr>
          <a:xfrm>
            <a:off x="3989274" y="5475066"/>
            <a:ext cx="7759195" cy="396954"/>
          </a:xfrm>
          <a:prstGeom prst="rect">
            <a:avLst/>
          </a:prstGeom>
          <a:noFill/>
          <a:ln/>
        </p:spPr>
        <p:txBody>
          <a:bodyPr wrap="none" lIns="0" tIns="0" rIns="0" bIns="0" rtlCol="0" anchor="t"/>
          <a:lstStyle/>
          <a:p>
            <a:pPr marL="0" indent="0" algn="r">
              <a:lnSpc>
                <a:spcPts val="3100"/>
              </a:lnSpc>
              <a:buNone/>
            </a:pPr>
            <a:r>
              <a:rPr lang="en-US" sz="2400" dirty="0">
                <a:solidFill>
                  <a:srgbClr val="666666"/>
                </a:solidFill>
                <a:latin typeface="IBM Plex Sans" pitchFamily="34" charset="0"/>
                <a:ea typeface="IBM Plex Sans" pitchFamily="34" charset="-122"/>
                <a:cs typeface="IBM Plex Sans" pitchFamily="34" charset="-120"/>
              </a:rPr>
              <a:t>By Namrata Farmer</a:t>
            </a:r>
            <a:endParaRPr lang="en-US" sz="2400" dirty="0"/>
          </a:p>
        </p:txBody>
      </p:sp>
      <p:pic>
        <p:nvPicPr>
          <p:cNvPr id="10" name="Image 0" descr="preencoded.png">
            <a:extLst>
              <a:ext uri="{FF2B5EF4-FFF2-40B4-BE49-F238E27FC236}">
                <a16:creationId xmlns:a16="http://schemas.microsoft.com/office/drawing/2014/main" id="{16AD06B1-0362-FA3C-BDBB-C36FBDC713C2}"/>
              </a:ext>
            </a:extLst>
          </p:cNvPr>
          <p:cNvPicPr>
            <a:picLocks noChangeAspect="1"/>
          </p:cNvPicPr>
          <p:nvPr/>
        </p:nvPicPr>
        <p:blipFill>
          <a:blip r:embed="rId2"/>
          <a:stretch>
            <a:fillRect/>
          </a:stretch>
        </p:blipFill>
        <p:spPr>
          <a:xfrm>
            <a:off x="1" y="0"/>
            <a:ext cx="3989274" cy="6857999"/>
          </a:xfrm>
          <a:prstGeom prst="rect">
            <a:avLst/>
          </a:prstGeom>
        </p:spPr>
      </p:pic>
    </p:spTree>
    <p:extLst>
      <p:ext uri="{BB962C8B-B14F-4D97-AF65-F5344CB8AC3E}">
        <p14:creationId xmlns:p14="http://schemas.microsoft.com/office/powerpoint/2010/main" val="3182127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100000">
              <a:srgbClr val="CCECFF"/>
            </a:gs>
            <a:gs pos="18000">
              <a:srgbClr val="FFCCFF"/>
            </a:gs>
          </a:gsLst>
          <a:lin ang="5400000" scaled="1"/>
        </a:gradFill>
        <a:effectLst/>
      </p:bgPr>
    </p:bg>
    <p:spTree>
      <p:nvGrpSpPr>
        <p:cNvPr id="1" name="">
          <a:extLst>
            <a:ext uri="{FF2B5EF4-FFF2-40B4-BE49-F238E27FC236}">
              <a16:creationId xmlns:a16="http://schemas.microsoft.com/office/drawing/2014/main" id="{366EEF22-1FDC-C3F4-4F3D-1240C2B70F96}"/>
            </a:ext>
          </a:extLst>
        </p:cNvPr>
        <p:cNvGrpSpPr/>
        <p:nvPr/>
      </p:nvGrpSpPr>
      <p:grpSpPr>
        <a:xfrm>
          <a:off x="0" y="0"/>
          <a:ext cx="0" cy="0"/>
          <a:chOff x="0" y="0"/>
          <a:chExt cx="0" cy="0"/>
        </a:xfrm>
      </p:grpSpPr>
      <p:sp>
        <p:nvSpPr>
          <p:cNvPr id="54" name="Text 0">
            <a:extLst>
              <a:ext uri="{FF2B5EF4-FFF2-40B4-BE49-F238E27FC236}">
                <a16:creationId xmlns:a16="http://schemas.microsoft.com/office/drawing/2014/main" id="{5C555AD6-833D-C26F-08AD-98D417B0C890}"/>
              </a:ext>
            </a:extLst>
          </p:cNvPr>
          <p:cNvSpPr/>
          <p:nvPr/>
        </p:nvSpPr>
        <p:spPr>
          <a:xfrm>
            <a:off x="4161102" y="390828"/>
            <a:ext cx="4961811" cy="620078"/>
          </a:xfrm>
          <a:prstGeom prst="rect">
            <a:avLst/>
          </a:prstGeom>
          <a:noFill/>
          <a:ln/>
        </p:spPr>
        <p:txBody>
          <a:bodyPr wrap="none" lIns="0" tIns="0" rIns="0" bIns="0" rtlCol="0" anchor="t"/>
          <a:lstStyle/>
          <a:p>
            <a:pPr marL="0" indent="0" algn="l">
              <a:lnSpc>
                <a:spcPts val="4850"/>
              </a:lnSpc>
              <a:buNone/>
            </a:pPr>
            <a:r>
              <a:rPr lang="en-US" sz="3900" dirty="0">
                <a:solidFill>
                  <a:srgbClr val="3F6FF3"/>
                </a:solidFill>
                <a:latin typeface="Outfit Medium" pitchFamily="34" charset="0"/>
                <a:ea typeface="Outfit Medium" pitchFamily="34" charset="-122"/>
                <a:cs typeface="Outfit Medium" pitchFamily="34" charset="-120"/>
              </a:rPr>
              <a:t>Dataset Overview</a:t>
            </a:r>
            <a:endParaRPr lang="en-US" sz="3900" dirty="0"/>
          </a:p>
        </p:txBody>
      </p:sp>
      <p:sp>
        <p:nvSpPr>
          <p:cNvPr id="55" name="Text 1">
            <a:extLst>
              <a:ext uri="{FF2B5EF4-FFF2-40B4-BE49-F238E27FC236}">
                <a16:creationId xmlns:a16="http://schemas.microsoft.com/office/drawing/2014/main" id="{7122A8A0-D688-609D-56E9-D0F28B05AE25}"/>
              </a:ext>
            </a:extLst>
          </p:cNvPr>
          <p:cNvSpPr/>
          <p:nvPr/>
        </p:nvSpPr>
        <p:spPr>
          <a:xfrm>
            <a:off x="2334028" y="1538613"/>
            <a:ext cx="3654147" cy="654963"/>
          </a:xfrm>
          <a:prstGeom prst="rect">
            <a:avLst/>
          </a:prstGeom>
          <a:noFill/>
          <a:ln/>
        </p:spPr>
        <p:txBody>
          <a:bodyPr wrap="none" lIns="0" tIns="0" rIns="0" bIns="0" rtlCol="0" anchor="t"/>
          <a:lstStyle/>
          <a:p>
            <a:pPr marL="0" indent="0" algn="ctr">
              <a:lnSpc>
                <a:spcPts val="5150"/>
              </a:lnSpc>
              <a:buNone/>
            </a:pPr>
            <a:r>
              <a:rPr lang="en-US" sz="5150" dirty="0">
                <a:solidFill>
                  <a:srgbClr val="666666"/>
                </a:solidFill>
                <a:latin typeface="Outfit Medium" pitchFamily="34" charset="0"/>
                <a:ea typeface="Outfit Medium" pitchFamily="34" charset="-122"/>
                <a:cs typeface="Outfit Medium" pitchFamily="34" charset="-120"/>
              </a:rPr>
              <a:t>541</a:t>
            </a:r>
            <a:endParaRPr lang="en-US" sz="5150" dirty="0"/>
          </a:p>
        </p:txBody>
      </p:sp>
      <p:sp>
        <p:nvSpPr>
          <p:cNvPr id="56" name="Text 2">
            <a:extLst>
              <a:ext uri="{FF2B5EF4-FFF2-40B4-BE49-F238E27FC236}">
                <a16:creationId xmlns:a16="http://schemas.microsoft.com/office/drawing/2014/main" id="{9D9AB6F3-03E1-516B-0520-63279472E48A}"/>
              </a:ext>
            </a:extLst>
          </p:cNvPr>
          <p:cNvSpPr/>
          <p:nvPr/>
        </p:nvSpPr>
        <p:spPr>
          <a:xfrm>
            <a:off x="2998195" y="2349227"/>
            <a:ext cx="2480905" cy="310158"/>
          </a:xfrm>
          <a:prstGeom prst="rect">
            <a:avLst/>
          </a:prstGeom>
          <a:noFill/>
          <a:ln/>
        </p:spPr>
        <p:txBody>
          <a:bodyPr wrap="none" lIns="0" tIns="0" rIns="0" bIns="0" rtlCol="0" anchor="t"/>
          <a:lstStyle/>
          <a:p>
            <a:pPr marL="0" indent="0" algn="ctr">
              <a:lnSpc>
                <a:spcPts val="2400"/>
              </a:lnSpc>
              <a:buNone/>
            </a:pPr>
            <a:r>
              <a:rPr lang="en-US" sz="1950" dirty="0">
                <a:solidFill>
                  <a:srgbClr val="666666"/>
                </a:solidFill>
                <a:latin typeface="Outfit Medium" pitchFamily="34" charset="0"/>
                <a:ea typeface="Outfit Medium" pitchFamily="34" charset="-122"/>
                <a:cs typeface="Outfit Medium" pitchFamily="34" charset="-120"/>
              </a:rPr>
              <a:t>Smartphone Models</a:t>
            </a:r>
            <a:endParaRPr lang="en-US" sz="1950" dirty="0"/>
          </a:p>
        </p:txBody>
      </p:sp>
      <p:sp>
        <p:nvSpPr>
          <p:cNvPr id="57" name="Text 3">
            <a:extLst>
              <a:ext uri="{FF2B5EF4-FFF2-40B4-BE49-F238E27FC236}">
                <a16:creationId xmlns:a16="http://schemas.microsoft.com/office/drawing/2014/main" id="{D90369E8-1255-93E4-1D58-03234BFCDB94}"/>
              </a:ext>
            </a:extLst>
          </p:cNvPr>
          <p:cNvSpPr/>
          <p:nvPr/>
        </p:nvSpPr>
        <p:spPr>
          <a:xfrm>
            <a:off x="2411574" y="2778447"/>
            <a:ext cx="3654147" cy="317540"/>
          </a:xfrm>
          <a:prstGeom prst="rect">
            <a:avLst/>
          </a:prstGeom>
          <a:noFill/>
          <a:ln/>
        </p:spPr>
        <p:txBody>
          <a:bodyPr wrap="none" lIns="0" tIns="0" rIns="0" bIns="0" rtlCol="0" anchor="t"/>
          <a:lstStyle/>
          <a:p>
            <a:pPr marL="0" indent="0" algn="ctr">
              <a:lnSpc>
                <a:spcPts val="2500"/>
              </a:lnSpc>
              <a:buNone/>
            </a:pPr>
            <a:r>
              <a:rPr lang="en-US" sz="1550" dirty="0">
                <a:solidFill>
                  <a:srgbClr val="666666"/>
                </a:solidFill>
                <a:latin typeface="IBM Plex Sans" pitchFamily="34" charset="0"/>
                <a:ea typeface="IBM Plex Sans" pitchFamily="34" charset="-122"/>
                <a:cs typeface="IBM Plex Sans" pitchFamily="34" charset="-120"/>
              </a:rPr>
              <a:t>Unique devices analyzed</a:t>
            </a:r>
            <a:endParaRPr lang="en-US" sz="1550" dirty="0"/>
          </a:p>
        </p:txBody>
      </p:sp>
      <p:sp>
        <p:nvSpPr>
          <p:cNvPr id="58" name="Text 4">
            <a:extLst>
              <a:ext uri="{FF2B5EF4-FFF2-40B4-BE49-F238E27FC236}">
                <a16:creationId xmlns:a16="http://schemas.microsoft.com/office/drawing/2014/main" id="{55662C22-F4BC-4DC8-6568-A1984F9D6EC5}"/>
              </a:ext>
            </a:extLst>
          </p:cNvPr>
          <p:cNvSpPr/>
          <p:nvPr/>
        </p:nvSpPr>
        <p:spPr>
          <a:xfrm>
            <a:off x="6313728" y="1446257"/>
            <a:ext cx="3654266" cy="654963"/>
          </a:xfrm>
          <a:prstGeom prst="rect">
            <a:avLst/>
          </a:prstGeom>
          <a:noFill/>
          <a:ln/>
        </p:spPr>
        <p:txBody>
          <a:bodyPr wrap="none" lIns="0" tIns="0" rIns="0" bIns="0" rtlCol="0" anchor="t"/>
          <a:lstStyle/>
          <a:p>
            <a:pPr marL="0" indent="0" algn="ctr">
              <a:lnSpc>
                <a:spcPts val="5150"/>
              </a:lnSpc>
              <a:buNone/>
            </a:pPr>
            <a:r>
              <a:rPr lang="en-US" sz="5150" dirty="0">
                <a:solidFill>
                  <a:srgbClr val="666666"/>
                </a:solidFill>
                <a:latin typeface="Outfit Medium" pitchFamily="34" charset="0"/>
                <a:ea typeface="Outfit Medium" pitchFamily="34" charset="-122"/>
                <a:cs typeface="Outfit Medium" pitchFamily="34" charset="-120"/>
              </a:rPr>
              <a:t>10</a:t>
            </a:r>
            <a:endParaRPr lang="en-US" sz="5150" dirty="0"/>
          </a:p>
        </p:txBody>
      </p:sp>
      <p:sp>
        <p:nvSpPr>
          <p:cNvPr id="59" name="Text 5">
            <a:extLst>
              <a:ext uri="{FF2B5EF4-FFF2-40B4-BE49-F238E27FC236}">
                <a16:creationId xmlns:a16="http://schemas.microsoft.com/office/drawing/2014/main" id="{10401462-CAD7-3421-0445-7AA2520B1590}"/>
              </a:ext>
            </a:extLst>
          </p:cNvPr>
          <p:cNvSpPr/>
          <p:nvPr/>
        </p:nvSpPr>
        <p:spPr>
          <a:xfrm>
            <a:off x="6900349" y="2349227"/>
            <a:ext cx="2480905" cy="310158"/>
          </a:xfrm>
          <a:prstGeom prst="rect">
            <a:avLst/>
          </a:prstGeom>
          <a:noFill/>
          <a:ln/>
        </p:spPr>
        <p:txBody>
          <a:bodyPr wrap="none" lIns="0" tIns="0" rIns="0" bIns="0" rtlCol="0" anchor="t"/>
          <a:lstStyle/>
          <a:p>
            <a:pPr marL="0" indent="0" algn="ctr">
              <a:lnSpc>
                <a:spcPts val="2400"/>
              </a:lnSpc>
              <a:buNone/>
            </a:pPr>
            <a:r>
              <a:rPr lang="en-US" sz="1950" dirty="0">
                <a:solidFill>
                  <a:srgbClr val="666666"/>
                </a:solidFill>
                <a:latin typeface="Outfit Medium" pitchFamily="34" charset="0"/>
                <a:ea typeface="Outfit Medium" pitchFamily="34" charset="-122"/>
                <a:cs typeface="Outfit Medium" pitchFamily="34" charset="-120"/>
              </a:rPr>
              <a:t>Features Examined</a:t>
            </a:r>
            <a:endParaRPr lang="en-US" sz="1950" dirty="0"/>
          </a:p>
        </p:txBody>
      </p:sp>
      <p:sp>
        <p:nvSpPr>
          <p:cNvPr id="60" name="Text 6">
            <a:extLst>
              <a:ext uri="{FF2B5EF4-FFF2-40B4-BE49-F238E27FC236}">
                <a16:creationId xmlns:a16="http://schemas.microsoft.com/office/drawing/2014/main" id="{0B9A8A6B-0016-7F74-8F00-63C7EDB0C22B}"/>
              </a:ext>
            </a:extLst>
          </p:cNvPr>
          <p:cNvSpPr/>
          <p:nvPr/>
        </p:nvSpPr>
        <p:spPr>
          <a:xfrm>
            <a:off x="6313728" y="2778447"/>
            <a:ext cx="3654266" cy="317540"/>
          </a:xfrm>
          <a:prstGeom prst="rect">
            <a:avLst/>
          </a:prstGeom>
          <a:noFill/>
          <a:ln/>
        </p:spPr>
        <p:txBody>
          <a:bodyPr wrap="none" lIns="0" tIns="0" rIns="0" bIns="0" rtlCol="0" anchor="t"/>
          <a:lstStyle/>
          <a:p>
            <a:pPr marL="0" indent="0" algn="ctr">
              <a:lnSpc>
                <a:spcPts val="2500"/>
              </a:lnSpc>
              <a:buNone/>
            </a:pPr>
            <a:r>
              <a:rPr lang="en-US" sz="1550" dirty="0">
                <a:solidFill>
                  <a:srgbClr val="666666"/>
                </a:solidFill>
                <a:latin typeface="IBM Plex Sans" pitchFamily="34" charset="0"/>
                <a:ea typeface="IBM Plex Sans" pitchFamily="34" charset="-122"/>
                <a:cs typeface="IBM Plex Sans" pitchFamily="34" charset="-120"/>
              </a:rPr>
              <a:t>Technical specifications</a:t>
            </a:r>
            <a:endParaRPr lang="en-US" sz="1550" dirty="0"/>
          </a:p>
        </p:txBody>
      </p:sp>
      <p:sp>
        <p:nvSpPr>
          <p:cNvPr id="61" name="Text 7">
            <a:extLst>
              <a:ext uri="{FF2B5EF4-FFF2-40B4-BE49-F238E27FC236}">
                <a16:creationId xmlns:a16="http://schemas.microsoft.com/office/drawing/2014/main" id="{033C0403-0FD1-5F39-F9F8-C4B3CA3ED826}"/>
              </a:ext>
            </a:extLst>
          </p:cNvPr>
          <p:cNvSpPr/>
          <p:nvPr/>
        </p:nvSpPr>
        <p:spPr>
          <a:xfrm>
            <a:off x="4362651" y="3592001"/>
            <a:ext cx="3654147" cy="654963"/>
          </a:xfrm>
          <a:prstGeom prst="rect">
            <a:avLst/>
          </a:prstGeom>
          <a:noFill/>
          <a:ln/>
        </p:spPr>
        <p:txBody>
          <a:bodyPr wrap="none" lIns="0" tIns="0" rIns="0" bIns="0" rtlCol="0" anchor="t"/>
          <a:lstStyle/>
          <a:p>
            <a:pPr marL="0" indent="0" algn="ctr">
              <a:lnSpc>
                <a:spcPts val="5150"/>
              </a:lnSpc>
              <a:buNone/>
            </a:pPr>
            <a:r>
              <a:rPr lang="en-US" sz="5150" dirty="0">
                <a:solidFill>
                  <a:srgbClr val="666666"/>
                </a:solidFill>
                <a:latin typeface="Outfit Medium" pitchFamily="34" charset="0"/>
                <a:ea typeface="Outfit Medium" pitchFamily="34" charset="-122"/>
                <a:cs typeface="Outfit Medium" pitchFamily="34" charset="-120"/>
              </a:rPr>
              <a:t>187</a:t>
            </a:r>
            <a:endParaRPr lang="en-US" sz="5150" dirty="0"/>
          </a:p>
        </p:txBody>
      </p:sp>
      <p:sp>
        <p:nvSpPr>
          <p:cNvPr id="62" name="Text 8">
            <a:extLst>
              <a:ext uri="{FF2B5EF4-FFF2-40B4-BE49-F238E27FC236}">
                <a16:creationId xmlns:a16="http://schemas.microsoft.com/office/drawing/2014/main" id="{F02CB5BB-A90F-47FC-FD90-A372975D17EA}"/>
              </a:ext>
            </a:extLst>
          </p:cNvPr>
          <p:cNvSpPr/>
          <p:nvPr/>
        </p:nvSpPr>
        <p:spPr>
          <a:xfrm>
            <a:off x="4949272" y="4494971"/>
            <a:ext cx="2480905" cy="310158"/>
          </a:xfrm>
          <a:prstGeom prst="rect">
            <a:avLst/>
          </a:prstGeom>
          <a:noFill/>
          <a:ln/>
        </p:spPr>
        <p:txBody>
          <a:bodyPr wrap="none" lIns="0" tIns="0" rIns="0" bIns="0" rtlCol="0" anchor="t"/>
          <a:lstStyle/>
          <a:p>
            <a:pPr marL="0" indent="0" algn="ctr">
              <a:lnSpc>
                <a:spcPts val="2400"/>
              </a:lnSpc>
              <a:buNone/>
            </a:pPr>
            <a:r>
              <a:rPr lang="en-US" sz="1950" dirty="0">
                <a:solidFill>
                  <a:srgbClr val="666666"/>
                </a:solidFill>
                <a:latin typeface="Outfit Medium" pitchFamily="34" charset="0"/>
                <a:ea typeface="Outfit Medium" pitchFamily="34" charset="-122"/>
                <a:cs typeface="Outfit Medium" pitchFamily="34" charset="-120"/>
              </a:rPr>
              <a:t>Unique Models</a:t>
            </a:r>
            <a:endParaRPr lang="en-US" sz="1950" dirty="0"/>
          </a:p>
        </p:txBody>
      </p:sp>
      <p:sp>
        <p:nvSpPr>
          <p:cNvPr id="63" name="Text 9">
            <a:extLst>
              <a:ext uri="{FF2B5EF4-FFF2-40B4-BE49-F238E27FC236}">
                <a16:creationId xmlns:a16="http://schemas.microsoft.com/office/drawing/2014/main" id="{1E55EE78-559E-2342-B1D6-5078F6DF529E}"/>
              </a:ext>
            </a:extLst>
          </p:cNvPr>
          <p:cNvSpPr/>
          <p:nvPr/>
        </p:nvSpPr>
        <p:spPr>
          <a:xfrm>
            <a:off x="4362651" y="4924191"/>
            <a:ext cx="3654147" cy="317540"/>
          </a:xfrm>
          <a:prstGeom prst="rect">
            <a:avLst/>
          </a:prstGeom>
          <a:noFill/>
          <a:ln/>
        </p:spPr>
        <p:txBody>
          <a:bodyPr wrap="none" lIns="0" tIns="0" rIns="0" bIns="0" rtlCol="0" anchor="t"/>
          <a:lstStyle/>
          <a:p>
            <a:pPr marL="0" indent="0" algn="ctr">
              <a:lnSpc>
                <a:spcPts val="2500"/>
              </a:lnSpc>
              <a:buNone/>
            </a:pPr>
            <a:r>
              <a:rPr lang="en-US" sz="1550" dirty="0">
                <a:solidFill>
                  <a:srgbClr val="666666"/>
                </a:solidFill>
                <a:latin typeface="IBM Plex Sans" pitchFamily="34" charset="0"/>
                <a:ea typeface="IBM Plex Sans" pitchFamily="34" charset="-122"/>
                <a:cs typeface="IBM Plex Sans" pitchFamily="34" charset="-120"/>
              </a:rPr>
              <a:t>Across various brands</a:t>
            </a:r>
            <a:endParaRPr lang="en-US" sz="1550" dirty="0"/>
          </a:p>
        </p:txBody>
      </p:sp>
      <p:sp>
        <p:nvSpPr>
          <p:cNvPr id="64" name="Text 10">
            <a:extLst>
              <a:ext uri="{FF2B5EF4-FFF2-40B4-BE49-F238E27FC236}">
                <a16:creationId xmlns:a16="http://schemas.microsoft.com/office/drawing/2014/main" id="{9ED3F90E-5797-527F-7E57-386B87631D74}"/>
              </a:ext>
            </a:extLst>
          </p:cNvPr>
          <p:cNvSpPr/>
          <p:nvPr/>
        </p:nvSpPr>
        <p:spPr>
          <a:xfrm>
            <a:off x="2441400" y="5197013"/>
            <a:ext cx="7556421" cy="1270159"/>
          </a:xfrm>
          <a:prstGeom prst="rect">
            <a:avLst/>
          </a:prstGeom>
          <a:noFill/>
          <a:ln/>
        </p:spPr>
        <p:txBody>
          <a:bodyPr wrap="square" lIns="0" tIns="0" rIns="0" bIns="0" rtlCol="0" anchor="t"/>
          <a:lstStyle/>
          <a:p>
            <a:pPr marL="0" indent="0" algn="l">
              <a:lnSpc>
                <a:spcPts val="2500"/>
              </a:lnSpc>
              <a:buNone/>
            </a:pPr>
            <a:r>
              <a:rPr lang="en-US" sz="1550" dirty="0">
                <a:solidFill>
                  <a:srgbClr val="666666"/>
                </a:solidFill>
                <a:latin typeface="IBM Plex Sans" pitchFamily="34" charset="0"/>
                <a:ea typeface="IBM Plex Sans" pitchFamily="34" charset="-122"/>
                <a:cs typeface="IBM Plex Sans" pitchFamily="34" charset="-120"/>
              </a:rPr>
              <a:t>The dataset contains comprehensive smartphone specifications with no duplicate entries or missing values. Data cleaning included removing unnecessary columns, converting prize values to integers, and standardizing camera specifications by removing "MP" suffixes.</a:t>
            </a:r>
            <a:endParaRPr lang="en-US" sz="1550" dirty="0"/>
          </a:p>
        </p:txBody>
      </p:sp>
    </p:spTree>
    <p:extLst>
      <p:ext uri="{BB962C8B-B14F-4D97-AF65-F5344CB8AC3E}">
        <p14:creationId xmlns:p14="http://schemas.microsoft.com/office/powerpoint/2010/main" val="39300450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100000">
              <a:srgbClr val="CCECFF"/>
            </a:gs>
            <a:gs pos="18000">
              <a:srgbClr val="FFCCFF"/>
            </a:gs>
          </a:gsLst>
          <a:lin ang="5400000" scaled="1"/>
        </a:gradFill>
        <a:effectLst/>
      </p:bgPr>
    </p:bg>
    <p:spTree>
      <p:nvGrpSpPr>
        <p:cNvPr id="1" name="">
          <a:extLst>
            <a:ext uri="{FF2B5EF4-FFF2-40B4-BE49-F238E27FC236}">
              <a16:creationId xmlns:a16="http://schemas.microsoft.com/office/drawing/2014/main" id="{6C5DC197-FE15-AF08-9C50-5D2B1C8147B9}"/>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FBC2EB01-0A5D-875D-F9B7-920BFCA0D428}"/>
              </a:ext>
            </a:extLst>
          </p:cNvPr>
          <p:cNvSpPr/>
          <p:nvPr/>
        </p:nvSpPr>
        <p:spPr>
          <a:xfrm>
            <a:off x="2699444" y="320873"/>
            <a:ext cx="5955149" cy="620078"/>
          </a:xfrm>
          <a:prstGeom prst="rect">
            <a:avLst/>
          </a:prstGeom>
          <a:noFill/>
          <a:ln/>
        </p:spPr>
        <p:txBody>
          <a:bodyPr wrap="none" lIns="0" tIns="0" rIns="0" bIns="0" rtlCol="0" anchor="t"/>
          <a:lstStyle/>
          <a:p>
            <a:pPr marL="0" indent="0" algn="l">
              <a:lnSpc>
                <a:spcPts val="4850"/>
              </a:lnSpc>
              <a:buNone/>
            </a:pPr>
            <a:r>
              <a:rPr lang="en-US" sz="3900" dirty="0">
                <a:solidFill>
                  <a:srgbClr val="3F6FF3"/>
                </a:solidFill>
                <a:latin typeface="Outfit Medium" pitchFamily="34" charset="0"/>
                <a:ea typeface="Outfit Medium" pitchFamily="34" charset="-122"/>
                <a:cs typeface="Outfit Medium" pitchFamily="34" charset="-120"/>
              </a:rPr>
              <a:t>Brand Distribution Analysis</a:t>
            </a:r>
            <a:endParaRPr lang="en-US" sz="3900" dirty="0"/>
          </a:p>
        </p:txBody>
      </p:sp>
      <p:sp>
        <p:nvSpPr>
          <p:cNvPr id="4" name="Text 1">
            <a:extLst>
              <a:ext uri="{FF2B5EF4-FFF2-40B4-BE49-F238E27FC236}">
                <a16:creationId xmlns:a16="http://schemas.microsoft.com/office/drawing/2014/main" id="{AC975258-99F5-E40E-9BE9-C2F9823D155C}"/>
              </a:ext>
            </a:extLst>
          </p:cNvPr>
          <p:cNvSpPr/>
          <p:nvPr/>
        </p:nvSpPr>
        <p:spPr>
          <a:xfrm>
            <a:off x="675803" y="1300903"/>
            <a:ext cx="7556421" cy="952619"/>
          </a:xfrm>
          <a:prstGeom prst="rect">
            <a:avLst/>
          </a:prstGeom>
          <a:noFill/>
          <a:ln/>
        </p:spPr>
        <p:txBody>
          <a:bodyPr wrap="square" lIns="0" tIns="0" rIns="0" bIns="0" rtlCol="0" anchor="t"/>
          <a:lstStyle/>
          <a:p>
            <a:pPr marL="0" indent="0" algn="l">
              <a:lnSpc>
                <a:spcPts val="2500"/>
              </a:lnSpc>
              <a:buNone/>
            </a:pPr>
            <a:endParaRPr lang="en-US" sz="1550" dirty="0"/>
          </a:p>
        </p:txBody>
      </p:sp>
      <p:sp>
        <p:nvSpPr>
          <p:cNvPr id="5" name="Text 2">
            <a:extLst>
              <a:ext uri="{FF2B5EF4-FFF2-40B4-BE49-F238E27FC236}">
                <a16:creationId xmlns:a16="http://schemas.microsoft.com/office/drawing/2014/main" id="{893847B6-4578-CC46-DFC6-CCEB1BB5EA20}"/>
              </a:ext>
            </a:extLst>
          </p:cNvPr>
          <p:cNvSpPr/>
          <p:nvPr/>
        </p:nvSpPr>
        <p:spPr>
          <a:xfrm>
            <a:off x="503693" y="990745"/>
            <a:ext cx="2195751" cy="310158"/>
          </a:xfrm>
          <a:prstGeom prst="rect">
            <a:avLst/>
          </a:prstGeom>
          <a:noFill/>
          <a:ln/>
        </p:spPr>
        <p:txBody>
          <a:bodyPr wrap="none" lIns="0" tIns="0" rIns="0" bIns="0" rtlCol="0" anchor="t"/>
          <a:lstStyle/>
          <a:p>
            <a:pPr marL="0" indent="0" algn="l">
              <a:lnSpc>
                <a:spcPts val="2400"/>
              </a:lnSpc>
              <a:buNone/>
            </a:pPr>
            <a:r>
              <a:rPr lang="en-US" sz="1950" dirty="0">
                <a:solidFill>
                  <a:srgbClr val="3F6FF3"/>
                </a:solidFill>
                <a:latin typeface="Outfit Medium" pitchFamily="34" charset="0"/>
                <a:ea typeface="Outfit Medium" pitchFamily="34" charset="-122"/>
                <a:cs typeface="Outfit Medium" pitchFamily="34" charset="-120"/>
              </a:rPr>
              <a:t>Market Leaders</a:t>
            </a:r>
            <a:endParaRPr lang="en-US" sz="1950" dirty="0"/>
          </a:p>
        </p:txBody>
      </p:sp>
      <p:sp>
        <p:nvSpPr>
          <p:cNvPr id="6" name="Text 3">
            <a:extLst>
              <a:ext uri="{FF2B5EF4-FFF2-40B4-BE49-F238E27FC236}">
                <a16:creationId xmlns:a16="http://schemas.microsoft.com/office/drawing/2014/main" id="{605C7689-795C-FEA8-00F7-DE4A10BCEF9E}"/>
              </a:ext>
            </a:extLst>
          </p:cNvPr>
          <p:cNvSpPr/>
          <p:nvPr/>
        </p:nvSpPr>
        <p:spPr>
          <a:xfrm>
            <a:off x="503693" y="1499261"/>
            <a:ext cx="2195751" cy="2222778"/>
          </a:xfrm>
          <a:prstGeom prst="rect">
            <a:avLst/>
          </a:prstGeom>
          <a:noFill/>
          <a:ln/>
        </p:spPr>
        <p:txBody>
          <a:bodyPr wrap="square" lIns="0" tIns="0" rIns="0" bIns="0" rtlCol="0" anchor="t"/>
          <a:lstStyle/>
          <a:p>
            <a:pPr marL="0" indent="0" algn="l">
              <a:lnSpc>
                <a:spcPts val="2500"/>
              </a:lnSpc>
              <a:buNone/>
            </a:pPr>
            <a:r>
              <a:rPr lang="en-US" sz="1550" dirty="0">
                <a:solidFill>
                  <a:srgbClr val="666666"/>
                </a:solidFill>
                <a:latin typeface="IBM Plex Sans" pitchFamily="34" charset="0"/>
                <a:ea typeface="IBM Plex Sans" pitchFamily="34" charset="-122"/>
                <a:cs typeface="IBM Plex Sans" pitchFamily="34" charset="-120"/>
              </a:rPr>
              <a:t>REALME and REDMI dominate the dataset with the highest model representation, indicating strong market presence in the mid-range segment.</a:t>
            </a:r>
            <a:endParaRPr lang="en-US" sz="1550" dirty="0"/>
          </a:p>
        </p:txBody>
      </p:sp>
      <p:sp>
        <p:nvSpPr>
          <p:cNvPr id="7" name="Text 4">
            <a:extLst>
              <a:ext uri="{FF2B5EF4-FFF2-40B4-BE49-F238E27FC236}">
                <a16:creationId xmlns:a16="http://schemas.microsoft.com/office/drawing/2014/main" id="{264D274B-7165-A0B1-F34B-B6FEB0D9C31D}"/>
              </a:ext>
            </a:extLst>
          </p:cNvPr>
          <p:cNvSpPr/>
          <p:nvPr/>
        </p:nvSpPr>
        <p:spPr>
          <a:xfrm>
            <a:off x="1908107" y="3920397"/>
            <a:ext cx="2195751" cy="310158"/>
          </a:xfrm>
          <a:prstGeom prst="rect">
            <a:avLst/>
          </a:prstGeom>
          <a:noFill/>
          <a:ln/>
        </p:spPr>
        <p:txBody>
          <a:bodyPr wrap="none" lIns="0" tIns="0" rIns="0" bIns="0" rtlCol="0" anchor="t"/>
          <a:lstStyle/>
          <a:p>
            <a:pPr marL="0" indent="0" algn="l">
              <a:lnSpc>
                <a:spcPts val="2400"/>
              </a:lnSpc>
              <a:buNone/>
            </a:pPr>
            <a:r>
              <a:rPr lang="en-US" sz="1950" dirty="0">
                <a:solidFill>
                  <a:srgbClr val="3F6FF3"/>
                </a:solidFill>
                <a:latin typeface="Outfit Medium" pitchFamily="34" charset="0"/>
                <a:ea typeface="Outfit Medium" pitchFamily="34" charset="-122"/>
                <a:cs typeface="Outfit Medium" pitchFamily="34" charset="-120"/>
              </a:rPr>
              <a:t>Mid-Range Players</a:t>
            </a:r>
            <a:endParaRPr lang="en-US" sz="1950" dirty="0"/>
          </a:p>
        </p:txBody>
      </p:sp>
      <p:sp>
        <p:nvSpPr>
          <p:cNvPr id="8" name="Text 5">
            <a:extLst>
              <a:ext uri="{FF2B5EF4-FFF2-40B4-BE49-F238E27FC236}">
                <a16:creationId xmlns:a16="http://schemas.microsoft.com/office/drawing/2014/main" id="{6D5F6E47-62A3-6639-6E16-91BA27807FDA}"/>
              </a:ext>
            </a:extLst>
          </p:cNvPr>
          <p:cNvSpPr/>
          <p:nvPr/>
        </p:nvSpPr>
        <p:spPr>
          <a:xfrm>
            <a:off x="1908107" y="4428913"/>
            <a:ext cx="2195751" cy="1905238"/>
          </a:xfrm>
          <a:prstGeom prst="rect">
            <a:avLst/>
          </a:prstGeom>
          <a:noFill/>
          <a:ln/>
        </p:spPr>
        <p:txBody>
          <a:bodyPr wrap="square" lIns="0" tIns="0" rIns="0" bIns="0" rtlCol="0" anchor="t"/>
          <a:lstStyle/>
          <a:p>
            <a:pPr marL="0" indent="0" algn="l">
              <a:lnSpc>
                <a:spcPts val="2500"/>
              </a:lnSpc>
              <a:buNone/>
            </a:pPr>
            <a:r>
              <a:rPr lang="en-US" sz="1550" dirty="0">
                <a:solidFill>
                  <a:srgbClr val="666666"/>
                </a:solidFill>
                <a:latin typeface="IBM Plex Sans" pitchFamily="34" charset="0"/>
                <a:ea typeface="IBM Plex Sans" pitchFamily="34" charset="-122"/>
                <a:cs typeface="IBM Plex Sans" pitchFamily="34" charset="-120"/>
              </a:rPr>
              <a:t>INFINIX, VIVO, and POCO show significant representation, reflecting competitive positioning in their respective segments.</a:t>
            </a:r>
            <a:endParaRPr lang="en-US" sz="1550" dirty="0"/>
          </a:p>
        </p:txBody>
      </p:sp>
      <p:sp>
        <p:nvSpPr>
          <p:cNvPr id="9" name="Text 6">
            <a:extLst>
              <a:ext uri="{FF2B5EF4-FFF2-40B4-BE49-F238E27FC236}">
                <a16:creationId xmlns:a16="http://schemas.microsoft.com/office/drawing/2014/main" id="{74F8B679-AF84-C389-E9ED-DB82D1B4D0EA}"/>
              </a:ext>
            </a:extLst>
          </p:cNvPr>
          <p:cNvSpPr/>
          <p:nvPr/>
        </p:nvSpPr>
        <p:spPr>
          <a:xfrm>
            <a:off x="3759400" y="1095593"/>
            <a:ext cx="2195751" cy="310158"/>
          </a:xfrm>
          <a:prstGeom prst="rect">
            <a:avLst/>
          </a:prstGeom>
          <a:noFill/>
          <a:ln/>
        </p:spPr>
        <p:txBody>
          <a:bodyPr wrap="none" lIns="0" tIns="0" rIns="0" bIns="0" rtlCol="0" anchor="t"/>
          <a:lstStyle/>
          <a:p>
            <a:pPr marL="0" indent="0" algn="l">
              <a:lnSpc>
                <a:spcPts val="2400"/>
              </a:lnSpc>
              <a:buNone/>
            </a:pPr>
            <a:r>
              <a:rPr lang="en-US" sz="1950" dirty="0">
                <a:solidFill>
                  <a:srgbClr val="3F6FF3"/>
                </a:solidFill>
                <a:latin typeface="Outfit Medium" pitchFamily="34" charset="0"/>
                <a:ea typeface="Outfit Medium" pitchFamily="34" charset="-122"/>
                <a:cs typeface="Outfit Medium" pitchFamily="34" charset="-120"/>
              </a:rPr>
              <a:t>Premium Presence</a:t>
            </a:r>
            <a:endParaRPr lang="en-US" sz="1950" dirty="0"/>
          </a:p>
        </p:txBody>
      </p:sp>
      <p:sp>
        <p:nvSpPr>
          <p:cNvPr id="10" name="Text 7">
            <a:extLst>
              <a:ext uri="{FF2B5EF4-FFF2-40B4-BE49-F238E27FC236}">
                <a16:creationId xmlns:a16="http://schemas.microsoft.com/office/drawing/2014/main" id="{7B290BC1-0EC7-C16E-B98C-20E4D2199ABD}"/>
              </a:ext>
            </a:extLst>
          </p:cNvPr>
          <p:cNvSpPr/>
          <p:nvPr/>
        </p:nvSpPr>
        <p:spPr>
          <a:xfrm>
            <a:off x="3759400" y="1604109"/>
            <a:ext cx="2195751" cy="1905238"/>
          </a:xfrm>
          <a:prstGeom prst="rect">
            <a:avLst/>
          </a:prstGeom>
          <a:noFill/>
          <a:ln/>
        </p:spPr>
        <p:txBody>
          <a:bodyPr wrap="square" lIns="0" tIns="0" rIns="0" bIns="0" rtlCol="0" anchor="t"/>
          <a:lstStyle/>
          <a:p>
            <a:pPr marL="0" indent="0" algn="l">
              <a:lnSpc>
                <a:spcPts val="2500"/>
              </a:lnSpc>
              <a:buNone/>
            </a:pPr>
            <a:r>
              <a:rPr lang="en-US" sz="1550" dirty="0">
                <a:solidFill>
                  <a:srgbClr val="666666"/>
                </a:solidFill>
                <a:latin typeface="IBM Plex Sans" pitchFamily="34" charset="0"/>
                <a:ea typeface="IBM Plex Sans" pitchFamily="34" charset="-122"/>
                <a:cs typeface="IBM Plex Sans" pitchFamily="34" charset="-120"/>
              </a:rPr>
              <a:t>APPLE and ONEPLUS have limited presence, while NOTHING, I KALL, IQOO, LAVA, ITEL, and NOKIA have negligible representation.</a:t>
            </a:r>
            <a:endParaRPr lang="en-US" sz="1550" dirty="0"/>
          </a:p>
        </p:txBody>
      </p:sp>
      <p:pic>
        <p:nvPicPr>
          <p:cNvPr id="21" name="Picture 20">
            <a:extLst>
              <a:ext uri="{FF2B5EF4-FFF2-40B4-BE49-F238E27FC236}">
                <a16:creationId xmlns:a16="http://schemas.microsoft.com/office/drawing/2014/main" id="{C723A42B-0CCC-AB3F-16EE-3C0400DF28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55152" y="940951"/>
            <a:ext cx="6236848" cy="5695823"/>
          </a:xfrm>
          <a:prstGeom prst="rect">
            <a:avLst/>
          </a:prstGeom>
        </p:spPr>
      </p:pic>
    </p:spTree>
    <p:extLst>
      <p:ext uri="{BB962C8B-B14F-4D97-AF65-F5344CB8AC3E}">
        <p14:creationId xmlns:p14="http://schemas.microsoft.com/office/powerpoint/2010/main" val="20380985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100000">
              <a:srgbClr val="CCECFF"/>
            </a:gs>
            <a:gs pos="18000">
              <a:srgbClr val="FFCCFF"/>
            </a:gs>
          </a:gsLst>
          <a:lin ang="5400000" scaled="1"/>
        </a:gradFill>
        <a:effectLst/>
      </p:bgPr>
    </p:bg>
    <p:spTree>
      <p:nvGrpSpPr>
        <p:cNvPr id="1" name="">
          <a:extLst>
            <a:ext uri="{FF2B5EF4-FFF2-40B4-BE49-F238E27FC236}">
              <a16:creationId xmlns:a16="http://schemas.microsoft.com/office/drawing/2014/main" id="{8C3843D6-DF24-ACD2-491F-ABEE013D03C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71CF6B4-7314-6B00-438C-EBEFF9BFAA79}"/>
              </a:ext>
            </a:extLst>
          </p:cNvPr>
          <p:cNvSpPr/>
          <p:nvPr/>
        </p:nvSpPr>
        <p:spPr>
          <a:xfrm>
            <a:off x="2188632" y="0"/>
            <a:ext cx="7079456" cy="620078"/>
          </a:xfrm>
          <a:prstGeom prst="rect">
            <a:avLst/>
          </a:prstGeom>
          <a:noFill/>
          <a:ln/>
        </p:spPr>
        <p:txBody>
          <a:bodyPr wrap="none" lIns="0" tIns="0" rIns="0" bIns="0" rtlCol="0" anchor="t"/>
          <a:lstStyle/>
          <a:p>
            <a:pPr marL="0" indent="0" algn="l">
              <a:lnSpc>
                <a:spcPts val="4850"/>
              </a:lnSpc>
              <a:buNone/>
            </a:pPr>
            <a:r>
              <a:rPr lang="en-US" sz="3900" dirty="0">
                <a:solidFill>
                  <a:srgbClr val="3F6FF3"/>
                </a:solidFill>
                <a:latin typeface="Outfit Medium" pitchFamily="34" charset="0"/>
                <a:ea typeface="Outfit Medium" pitchFamily="34" charset="-122"/>
                <a:cs typeface="Outfit Medium" pitchFamily="34" charset="-120"/>
              </a:rPr>
              <a:t>Processor Category Distribution</a:t>
            </a:r>
            <a:endParaRPr lang="en-US" sz="3900" dirty="0"/>
          </a:p>
        </p:txBody>
      </p:sp>
      <p:sp>
        <p:nvSpPr>
          <p:cNvPr id="11" name="Shape 1">
            <a:extLst>
              <a:ext uri="{FF2B5EF4-FFF2-40B4-BE49-F238E27FC236}">
                <a16:creationId xmlns:a16="http://schemas.microsoft.com/office/drawing/2014/main" id="{B4EA9147-1054-D0DD-0CB8-D356BA9EEB4C}"/>
              </a:ext>
            </a:extLst>
          </p:cNvPr>
          <p:cNvSpPr/>
          <p:nvPr/>
        </p:nvSpPr>
        <p:spPr>
          <a:xfrm>
            <a:off x="759433" y="798723"/>
            <a:ext cx="4762948" cy="1952387"/>
          </a:xfrm>
          <a:prstGeom prst="roundRect">
            <a:avLst>
              <a:gd name="adj" fmla="val 9149"/>
            </a:avLst>
          </a:prstGeom>
          <a:solidFill>
            <a:srgbClr val="CFDBFC"/>
          </a:solidFill>
          <a:ln w="7620">
            <a:solidFill>
              <a:srgbClr val="B5C1E2"/>
            </a:solidFill>
            <a:prstDash val="solid"/>
          </a:ln>
          <a:effectLst>
            <a:outerShdw dist="25400" dir="2700000" algn="bl" rotWithShape="0">
              <a:srgbClr val="B5C1E2">
                <a:alpha val="100000"/>
              </a:srgbClr>
            </a:outerShdw>
          </a:effectLst>
        </p:spPr>
      </p:sp>
      <p:sp>
        <p:nvSpPr>
          <p:cNvPr id="12" name="Shape 2">
            <a:extLst>
              <a:ext uri="{FF2B5EF4-FFF2-40B4-BE49-F238E27FC236}">
                <a16:creationId xmlns:a16="http://schemas.microsoft.com/office/drawing/2014/main" id="{C2714579-FA49-3EE0-5A9A-8F86D7F0A617}"/>
              </a:ext>
            </a:extLst>
          </p:cNvPr>
          <p:cNvSpPr/>
          <p:nvPr/>
        </p:nvSpPr>
        <p:spPr>
          <a:xfrm>
            <a:off x="965411" y="1038820"/>
            <a:ext cx="595313" cy="595313"/>
          </a:xfrm>
          <a:prstGeom prst="roundRect">
            <a:avLst>
              <a:gd name="adj" fmla="val 15358451"/>
            </a:avLst>
          </a:prstGeom>
          <a:solidFill>
            <a:srgbClr val="A2B9F9"/>
          </a:solidFill>
          <a:ln/>
        </p:spPr>
      </p:sp>
      <p:pic>
        <p:nvPicPr>
          <p:cNvPr id="13" name="Image 0" descr="preencoded.png">
            <a:extLst>
              <a:ext uri="{FF2B5EF4-FFF2-40B4-BE49-F238E27FC236}">
                <a16:creationId xmlns:a16="http://schemas.microsoft.com/office/drawing/2014/main" id="{1F1CC2AF-A8C6-485E-51B4-08C9F67905E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29122" y="1202412"/>
            <a:ext cx="267891" cy="267891"/>
          </a:xfrm>
          <a:prstGeom prst="rect">
            <a:avLst/>
          </a:prstGeom>
        </p:spPr>
      </p:pic>
      <p:sp>
        <p:nvSpPr>
          <p:cNvPr id="14" name="Text 3">
            <a:extLst>
              <a:ext uri="{FF2B5EF4-FFF2-40B4-BE49-F238E27FC236}">
                <a16:creationId xmlns:a16="http://schemas.microsoft.com/office/drawing/2014/main" id="{780E6B19-2E15-B9C3-3E3C-7C8C825FAB0C}"/>
              </a:ext>
            </a:extLst>
          </p:cNvPr>
          <p:cNvSpPr/>
          <p:nvPr/>
        </p:nvSpPr>
        <p:spPr>
          <a:xfrm>
            <a:off x="965411" y="1832491"/>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000000"/>
                </a:solidFill>
                <a:latin typeface="Outfit Medium" pitchFamily="34" charset="0"/>
                <a:ea typeface="Outfit Medium" pitchFamily="34" charset="-122"/>
                <a:cs typeface="Outfit Medium" pitchFamily="34" charset="-120"/>
              </a:rPr>
              <a:t>Mediatek Helio</a:t>
            </a:r>
            <a:endParaRPr lang="en-US" sz="1950" dirty="0"/>
          </a:p>
        </p:txBody>
      </p:sp>
      <p:sp>
        <p:nvSpPr>
          <p:cNvPr id="15" name="Text 4">
            <a:extLst>
              <a:ext uri="{FF2B5EF4-FFF2-40B4-BE49-F238E27FC236}">
                <a16:creationId xmlns:a16="http://schemas.microsoft.com/office/drawing/2014/main" id="{F0756ED3-39A3-1B52-495E-49B6CF0D91D5}"/>
              </a:ext>
            </a:extLst>
          </p:cNvPr>
          <p:cNvSpPr/>
          <p:nvPr/>
        </p:nvSpPr>
        <p:spPr>
          <a:xfrm>
            <a:off x="965411" y="2261711"/>
            <a:ext cx="3652619" cy="406190"/>
          </a:xfrm>
          <a:prstGeom prst="rect">
            <a:avLst/>
          </a:prstGeom>
          <a:noFill/>
          <a:ln/>
        </p:spPr>
        <p:txBody>
          <a:bodyPr wrap="none" lIns="0" tIns="0" rIns="0" bIns="0" rtlCol="0" anchor="t"/>
          <a:lstStyle/>
          <a:p>
            <a:pPr marL="0" indent="0" algn="l">
              <a:lnSpc>
                <a:spcPts val="2500"/>
              </a:lnSpc>
              <a:buNone/>
            </a:pPr>
            <a:r>
              <a:rPr lang="en-US" sz="1550" dirty="0">
                <a:solidFill>
                  <a:srgbClr val="000000"/>
                </a:solidFill>
                <a:latin typeface="IBM Plex Sans" pitchFamily="34" charset="0"/>
                <a:ea typeface="IBM Plex Sans" pitchFamily="34" charset="-122"/>
                <a:cs typeface="IBM Plex Sans" pitchFamily="34" charset="-120"/>
              </a:rPr>
              <a:t>170 entries - Budget/mid-range focus</a:t>
            </a:r>
            <a:endParaRPr lang="en-US" sz="1550" dirty="0"/>
          </a:p>
        </p:txBody>
      </p:sp>
      <p:sp>
        <p:nvSpPr>
          <p:cNvPr id="16" name="Shape 5">
            <a:extLst>
              <a:ext uri="{FF2B5EF4-FFF2-40B4-BE49-F238E27FC236}">
                <a16:creationId xmlns:a16="http://schemas.microsoft.com/office/drawing/2014/main" id="{A18989A5-3A6C-84B1-BDE4-2FF5905B3B68}"/>
              </a:ext>
            </a:extLst>
          </p:cNvPr>
          <p:cNvSpPr/>
          <p:nvPr/>
        </p:nvSpPr>
        <p:spPr>
          <a:xfrm>
            <a:off x="5774390" y="832842"/>
            <a:ext cx="4762948" cy="1952387"/>
          </a:xfrm>
          <a:prstGeom prst="roundRect">
            <a:avLst>
              <a:gd name="adj" fmla="val 9149"/>
            </a:avLst>
          </a:prstGeom>
          <a:solidFill>
            <a:srgbClr val="CFDBFC"/>
          </a:solidFill>
          <a:ln w="7620">
            <a:solidFill>
              <a:srgbClr val="B5C1E2"/>
            </a:solidFill>
            <a:prstDash val="solid"/>
          </a:ln>
          <a:effectLst>
            <a:outerShdw dist="25400" dir="2700000" algn="bl" rotWithShape="0">
              <a:srgbClr val="B5C1E2">
                <a:alpha val="100000"/>
              </a:srgbClr>
            </a:outerShdw>
          </a:effectLst>
        </p:spPr>
      </p:sp>
      <p:sp>
        <p:nvSpPr>
          <p:cNvPr id="17" name="Shape 6">
            <a:extLst>
              <a:ext uri="{FF2B5EF4-FFF2-40B4-BE49-F238E27FC236}">
                <a16:creationId xmlns:a16="http://schemas.microsoft.com/office/drawing/2014/main" id="{E1EA5D07-1B62-909E-C41A-2C5E3AE85481}"/>
              </a:ext>
            </a:extLst>
          </p:cNvPr>
          <p:cNvSpPr/>
          <p:nvPr/>
        </p:nvSpPr>
        <p:spPr>
          <a:xfrm>
            <a:off x="5980368" y="1038820"/>
            <a:ext cx="595313" cy="595313"/>
          </a:xfrm>
          <a:prstGeom prst="roundRect">
            <a:avLst>
              <a:gd name="adj" fmla="val 15358451"/>
            </a:avLst>
          </a:prstGeom>
          <a:solidFill>
            <a:srgbClr val="A2B9F9"/>
          </a:solidFill>
          <a:ln/>
        </p:spPr>
      </p:sp>
      <p:pic>
        <p:nvPicPr>
          <p:cNvPr id="18" name="Image 1" descr="preencoded.png">
            <a:extLst>
              <a:ext uri="{FF2B5EF4-FFF2-40B4-BE49-F238E27FC236}">
                <a16:creationId xmlns:a16="http://schemas.microsoft.com/office/drawing/2014/main" id="{75742B08-805F-FC7C-270E-93EDB4403BD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44079" y="1202412"/>
            <a:ext cx="267891" cy="267891"/>
          </a:xfrm>
          <a:prstGeom prst="rect">
            <a:avLst/>
          </a:prstGeom>
        </p:spPr>
      </p:pic>
      <p:sp>
        <p:nvSpPr>
          <p:cNvPr id="19" name="Text 7">
            <a:extLst>
              <a:ext uri="{FF2B5EF4-FFF2-40B4-BE49-F238E27FC236}">
                <a16:creationId xmlns:a16="http://schemas.microsoft.com/office/drawing/2014/main" id="{3AF1BF49-2BB7-CDA7-1DB5-0A2743183606}"/>
              </a:ext>
            </a:extLst>
          </p:cNvPr>
          <p:cNvSpPr/>
          <p:nvPr/>
        </p:nvSpPr>
        <p:spPr>
          <a:xfrm>
            <a:off x="5980368" y="1832491"/>
            <a:ext cx="2633901" cy="310158"/>
          </a:xfrm>
          <a:prstGeom prst="rect">
            <a:avLst/>
          </a:prstGeom>
          <a:noFill/>
          <a:ln/>
        </p:spPr>
        <p:txBody>
          <a:bodyPr wrap="none" lIns="0" tIns="0" rIns="0" bIns="0" rtlCol="0" anchor="t"/>
          <a:lstStyle/>
          <a:p>
            <a:pPr marL="0" indent="0" algn="l">
              <a:lnSpc>
                <a:spcPts val="2400"/>
              </a:lnSpc>
              <a:buNone/>
            </a:pPr>
            <a:r>
              <a:rPr lang="en-US" sz="1950" dirty="0">
                <a:solidFill>
                  <a:srgbClr val="000000"/>
                </a:solidFill>
                <a:latin typeface="Outfit Medium" pitchFamily="34" charset="0"/>
                <a:ea typeface="Outfit Medium" pitchFamily="34" charset="-122"/>
                <a:cs typeface="Outfit Medium" pitchFamily="34" charset="-120"/>
              </a:rPr>
              <a:t>Qualcomm Snapdragon</a:t>
            </a:r>
            <a:endParaRPr lang="en-US" sz="1950" dirty="0"/>
          </a:p>
        </p:txBody>
      </p:sp>
      <p:sp>
        <p:nvSpPr>
          <p:cNvPr id="20" name="Text 8">
            <a:extLst>
              <a:ext uri="{FF2B5EF4-FFF2-40B4-BE49-F238E27FC236}">
                <a16:creationId xmlns:a16="http://schemas.microsoft.com/office/drawing/2014/main" id="{EBF4A463-C634-30C0-7686-CEBF75D0C7FF}"/>
              </a:ext>
            </a:extLst>
          </p:cNvPr>
          <p:cNvSpPr/>
          <p:nvPr/>
        </p:nvSpPr>
        <p:spPr>
          <a:xfrm>
            <a:off x="7297319" y="2261711"/>
            <a:ext cx="2977934" cy="317540"/>
          </a:xfrm>
          <a:prstGeom prst="rect">
            <a:avLst/>
          </a:prstGeom>
          <a:noFill/>
          <a:ln/>
        </p:spPr>
        <p:txBody>
          <a:bodyPr wrap="none" lIns="0" tIns="0" rIns="0" bIns="0" rtlCol="0" anchor="t"/>
          <a:lstStyle/>
          <a:p>
            <a:pPr marL="0" indent="0" algn="l">
              <a:lnSpc>
                <a:spcPts val="2500"/>
              </a:lnSpc>
              <a:buNone/>
            </a:pPr>
            <a:r>
              <a:rPr lang="en-US" sz="1550" dirty="0">
                <a:solidFill>
                  <a:srgbClr val="000000"/>
                </a:solidFill>
                <a:latin typeface="IBM Plex Sans" pitchFamily="34" charset="0"/>
                <a:ea typeface="IBM Plex Sans" pitchFamily="34" charset="-122"/>
                <a:cs typeface="IBM Plex Sans" pitchFamily="34" charset="-120"/>
              </a:rPr>
              <a:t>130 entries - Performance tier</a:t>
            </a:r>
            <a:endParaRPr lang="en-US" sz="1550" dirty="0"/>
          </a:p>
        </p:txBody>
      </p:sp>
      <p:sp>
        <p:nvSpPr>
          <p:cNvPr id="22" name="Shape 9">
            <a:extLst>
              <a:ext uri="{FF2B5EF4-FFF2-40B4-BE49-F238E27FC236}">
                <a16:creationId xmlns:a16="http://schemas.microsoft.com/office/drawing/2014/main" id="{D114C31A-AA45-9D93-7927-09A4BBD51A76}"/>
              </a:ext>
            </a:extLst>
          </p:cNvPr>
          <p:cNvSpPr/>
          <p:nvPr/>
        </p:nvSpPr>
        <p:spPr>
          <a:xfrm>
            <a:off x="713403" y="3014756"/>
            <a:ext cx="4678350" cy="1952387"/>
          </a:xfrm>
          <a:prstGeom prst="roundRect">
            <a:avLst>
              <a:gd name="adj" fmla="val 9149"/>
            </a:avLst>
          </a:prstGeom>
          <a:solidFill>
            <a:srgbClr val="CFDBFC"/>
          </a:solidFill>
          <a:ln w="7620">
            <a:solidFill>
              <a:srgbClr val="B5C1E2"/>
            </a:solidFill>
            <a:prstDash val="solid"/>
          </a:ln>
          <a:effectLst>
            <a:outerShdw dist="25400" dir="2700000" algn="bl" rotWithShape="0">
              <a:srgbClr val="B5C1E2">
                <a:alpha val="100000"/>
              </a:srgbClr>
            </a:outerShdw>
          </a:effectLst>
        </p:spPr>
      </p:sp>
      <p:sp>
        <p:nvSpPr>
          <p:cNvPr id="23" name="Shape 10">
            <a:extLst>
              <a:ext uri="{FF2B5EF4-FFF2-40B4-BE49-F238E27FC236}">
                <a16:creationId xmlns:a16="http://schemas.microsoft.com/office/drawing/2014/main" id="{EAA46EB2-C347-63F6-8BAC-5A9D01E30C5C}"/>
              </a:ext>
            </a:extLst>
          </p:cNvPr>
          <p:cNvSpPr/>
          <p:nvPr/>
        </p:nvSpPr>
        <p:spPr>
          <a:xfrm>
            <a:off x="965411" y="3189565"/>
            <a:ext cx="595313" cy="595313"/>
          </a:xfrm>
          <a:prstGeom prst="roundRect">
            <a:avLst>
              <a:gd name="adj" fmla="val 15358451"/>
            </a:avLst>
          </a:prstGeom>
          <a:solidFill>
            <a:srgbClr val="A2B9F9"/>
          </a:solidFill>
          <a:ln/>
        </p:spPr>
      </p:sp>
      <p:pic>
        <p:nvPicPr>
          <p:cNvPr id="24" name="Image 2" descr="preencoded.png">
            <a:extLst>
              <a:ext uri="{FF2B5EF4-FFF2-40B4-BE49-F238E27FC236}">
                <a16:creationId xmlns:a16="http://schemas.microsoft.com/office/drawing/2014/main" id="{F21895F3-95CA-C0D3-4D71-339D3131F85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9122" y="3353157"/>
            <a:ext cx="267891" cy="267891"/>
          </a:xfrm>
          <a:prstGeom prst="rect">
            <a:avLst/>
          </a:prstGeom>
        </p:spPr>
      </p:pic>
      <p:sp>
        <p:nvSpPr>
          <p:cNvPr id="25" name="Text 11">
            <a:extLst>
              <a:ext uri="{FF2B5EF4-FFF2-40B4-BE49-F238E27FC236}">
                <a16:creationId xmlns:a16="http://schemas.microsoft.com/office/drawing/2014/main" id="{E82D1111-FB00-B491-FB46-5A468C3DC10F}"/>
              </a:ext>
            </a:extLst>
          </p:cNvPr>
          <p:cNvSpPr/>
          <p:nvPr/>
        </p:nvSpPr>
        <p:spPr>
          <a:xfrm>
            <a:off x="965411" y="3983236"/>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000000"/>
                </a:solidFill>
                <a:latin typeface="Outfit Medium" pitchFamily="34" charset="0"/>
                <a:ea typeface="Outfit Medium" pitchFamily="34" charset="-122"/>
                <a:cs typeface="Outfit Medium" pitchFamily="34" charset="-120"/>
              </a:rPr>
              <a:t>Mediatek Dimensity</a:t>
            </a:r>
            <a:endParaRPr lang="en-US" sz="1950" dirty="0"/>
          </a:p>
        </p:txBody>
      </p:sp>
      <p:sp>
        <p:nvSpPr>
          <p:cNvPr id="26" name="Text 12">
            <a:extLst>
              <a:ext uri="{FF2B5EF4-FFF2-40B4-BE49-F238E27FC236}">
                <a16:creationId xmlns:a16="http://schemas.microsoft.com/office/drawing/2014/main" id="{ED0A12D7-4B83-E2E1-E077-8679B1FD9D98}"/>
              </a:ext>
            </a:extLst>
          </p:cNvPr>
          <p:cNvSpPr/>
          <p:nvPr/>
        </p:nvSpPr>
        <p:spPr>
          <a:xfrm>
            <a:off x="965411" y="4412456"/>
            <a:ext cx="3532039" cy="371594"/>
          </a:xfrm>
          <a:prstGeom prst="rect">
            <a:avLst/>
          </a:prstGeom>
          <a:noFill/>
          <a:ln/>
        </p:spPr>
        <p:txBody>
          <a:bodyPr wrap="none" lIns="0" tIns="0" rIns="0" bIns="0" rtlCol="0" anchor="t"/>
          <a:lstStyle/>
          <a:p>
            <a:pPr marL="0" indent="0" algn="l">
              <a:lnSpc>
                <a:spcPts val="2500"/>
              </a:lnSpc>
              <a:buNone/>
            </a:pPr>
            <a:r>
              <a:rPr lang="en-US" sz="1550" dirty="0">
                <a:solidFill>
                  <a:srgbClr val="000000"/>
                </a:solidFill>
                <a:latin typeface="IBM Plex Sans" pitchFamily="34" charset="0"/>
                <a:ea typeface="IBM Plex Sans" pitchFamily="34" charset="-122"/>
                <a:cs typeface="IBM Plex Sans" pitchFamily="34" charset="-120"/>
              </a:rPr>
              <a:t>109 entries - Mid-range emphasis</a:t>
            </a:r>
            <a:endParaRPr lang="en-US" sz="1550" dirty="0"/>
          </a:p>
        </p:txBody>
      </p:sp>
      <p:sp>
        <p:nvSpPr>
          <p:cNvPr id="27" name="Shape 13">
            <a:extLst>
              <a:ext uri="{FF2B5EF4-FFF2-40B4-BE49-F238E27FC236}">
                <a16:creationId xmlns:a16="http://schemas.microsoft.com/office/drawing/2014/main" id="{EE296753-764E-6EC0-BD4D-E45280B4A4AB}"/>
              </a:ext>
            </a:extLst>
          </p:cNvPr>
          <p:cNvSpPr/>
          <p:nvPr/>
        </p:nvSpPr>
        <p:spPr>
          <a:xfrm>
            <a:off x="5774390" y="2983587"/>
            <a:ext cx="4762948" cy="1952387"/>
          </a:xfrm>
          <a:prstGeom prst="roundRect">
            <a:avLst>
              <a:gd name="adj" fmla="val 9149"/>
            </a:avLst>
          </a:prstGeom>
          <a:solidFill>
            <a:srgbClr val="CFDBFC"/>
          </a:solidFill>
          <a:ln w="7620">
            <a:solidFill>
              <a:srgbClr val="B5C1E2"/>
            </a:solidFill>
            <a:prstDash val="solid"/>
          </a:ln>
          <a:effectLst>
            <a:outerShdw dist="25400" dir="2700000" algn="bl" rotWithShape="0">
              <a:srgbClr val="B5C1E2">
                <a:alpha val="100000"/>
              </a:srgbClr>
            </a:outerShdw>
          </a:effectLst>
        </p:spPr>
      </p:sp>
      <p:sp>
        <p:nvSpPr>
          <p:cNvPr id="28" name="Shape 14">
            <a:extLst>
              <a:ext uri="{FF2B5EF4-FFF2-40B4-BE49-F238E27FC236}">
                <a16:creationId xmlns:a16="http://schemas.microsoft.com/office/drawing/2014/main" id="{F109B1AD-EBE1-FBBB-3F75-22E67C1E7406}"/>
              </a:ext>
            </a:extLst>
          </p:cNvPr>
          <p:cNvSpPr/>
          <p:nvPr/>
        </p:nvSpPr>
        <p:spPr>
          <a:xfrm>
            <a:off x="5980368" y="3189565"/>
            <a:ext cx="595313" cy="595313"/>
          </a:xfrm>
          <a:prstGeom prst="roundRect">
            <a:avLst>
              <a:gd name="adj" fmla="val 15358451"/>
            </a:avLst>
          </a:prstGeom>
          <a:solidFill>
            <a:srgbClr val="A2B9F9"/>
          </a:solidFill>
          <a:ln/>
        </p:spPr>
      </p:sp>
      <p:pic>
        <p:nvPicPr>
          <p:cNvPr id="29" name="Image 3" descr="preencoded.png">
            <a:extLst>
              <a:ext uri="{FF2B5EF4-FFF2-40B4-BE49-F238E27FC236}">
                <a16:creationId xmlns:a16="http://schemas.microsoft.com/office/drawing/2014/main" id="{6E596F29-7E6B-D069-9D78-E2E6E0CACD3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144079" y="3353157"/>
            <a:ext cx="267891" cy="267891"/>
          </a:xfrm>
          <a:prstGeom prst="rect">
            <a:avLst/>
          </a:prstGeom>
        </p:spPr>
      </p:pic>
      <p:sp>
        <p:nvSpPr>
          <p:cNvPr id="30" name="Text 15">
            <a:extLst>
              <a:ext uri="{FF2B5EF4-FFF2-40B4-BE49-F238E27FC236}">
                <a16:creationId xmlns:a16="http://schemas.microsoft.com/office/drawing/2014/main" id="{85ED07E1-50D6-1045-FC2D-EDE78A576E55}"/>
              </a:ext>
            </a:extLst>
          </p:cNvPr>
          <p:cNvSpPr/>
          <p:nvPr/>
        </p:nvSpPr>
        <p:spPr>
          <a:xfrm>
            <a:off x="5980368" y="3983236"/>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000000"/>
                </a:solidFill>
                <a:latin typeface="Outfit Medium" pitchFamily="34" charset="0"/>
                <a:ea typeface="Outfit Medium" pitchFamily="34" charset="-122"/>
                <a:cs typeface="Outfit Medium" pitchFamily="34" charset="-120"/>
              </a:rPr>
              <a:t>Unisoc</a:t>
            </a:r>
            <a:endParaRPr lang="en-US" sz="1950" dirty="0"/>
          </a:p>
        </p:txBody>
      </p:sp>
      <p:sp>
        <p:nvSpPr>
          <p:cNvPr id="31" name="Text 16">
            <a:extLst>
              <a:ext uri="{FF2B5EF4-FFF2-40B4-BE49-F238E27FC236}">
                <a16:creationId xmlns:a16="http://schemas.microsoft.com/office/drawing/2014/main" id="{010DFBCC-3E71-AB9E-0141-2194BC636CD6}"/>
              </a:ext>
            </a:extLst>
          </p:cNvPr>
          <p:cNvSpPr/>
          <p:nvPr/>
        </p:nvSpPr>
        <p:spPr>
          <a:xfrm>
            <a:off x="7586001" y="4412456"/>
            <a:ext cx="2860074" cy="523518"/>
          </a:xfrm>
          <a:prstGeom prst="rect">
            <a:avLst/>
          </a:prstGeom>
          <a:noFill/>
          <a:ln/>
        </p:spPr>
        <p:txBody>
          <a:bodyPr wrap="none" lIns="0" tIns="0" rIns="0" bIns="0" rtlCol="0" anchor="t"/>
          <a:lstStyle/>
          <a:p>
            <a:pPr marL="0" indent="0" algn="l">
              <a:lnSpc>
                <a:spcPts val="2500"/>
              </a:lnSpc>
              <a:buNone/>
            </a:pPr>
            <a:r>
              <a:rPr lang="en-US" sz="1550" dirty="0">
                <a:solidFill>
                  <a:srgbClr val="000000"/>
                </a:solidFill>
                <a:latin typeface="IBM Plex Sans" pitchFamily="34" charset="0"/>
                <a:ea typeface="IBM Plex Sans" pitchFamily="34" charset="-122"/>
                <a:cs typeface="IBM Plex Sans" pitchFamily="34" charset="-120"/>
              </a:rPr>
              <a:t>64 entries - Moderate presence</a:t>
            </a:r>
            <a:endParaRPr lang="en-US" sz="1550" dirty="0"/>
          </a:p>
        </p:txBody>
      </p:sp>
      <p:sp>
        <p:nvSpPr>
          <p:cNvPr id="32" name="Text 17">
            <a:extLst>
              <a:ext uri="{FF2B5EF4-FFF2-40B4-BE49-F238E27FC236}">
                <a16:creationId xmlns:a16="http://schemas.microsoft.com/office/drawing/2014/main" id="{226A8A26-2826-829E-12E9-D225C527281C}"/>
              </a:ext>
            </a:extLst>
          </p:cNvPr>
          <p:cNvSpPr/>
          <p:nvPr/>
        </p:nvSpPr>
        <p:spPr>
          <a:xfrm>
            <a:off x="336116" y="5213747"/>
            <a:ext cx="11615925" cy="1501685"/>
          </a:xfrm>
          <a:prstGeom prst="rect">
            <a:avLst/>
          </a:prstGeom>
          <a:noFill/>
          <a:ln/>
        </p:spPr>
        <p:txBody>
          <a:bodyPr wrap="square" lIns="0" tIns="0" rIns="0" bIns="0" rtlCol="0" anchor="t"/>
          <a:lstStyle/>
          <a:p>
            <a:pPr marL="0" indent="0" algn="l">
              <a:lnSpc>
                <a:spcPts val="2500"/>
              </a:lnSpc>
              <a:buNone/>
            </a:pPr>
            <a:r>
              <a:rPr lang="en-US" sz="1550" dirty="0">
                <a:solidFill>
                  <a:srgbClr val="666666"/>
                </a:solidFill>
                <a:latin typeface="IBM Plex Sans" pitchFamily="34" charset="0"/>
                <a:ea typeface="IBM Plex Sans" pitchFamily="34" charset="-122"/>
                <a:cs typeface="IBM Plex Sans" pitchFamily="34" charset="-120"/>
              </a:rPr>
              <a:t>Processor distribution shows Mediatek (Helio + Dimensity combined) holds largest share, highlighting strong presence in budget and mid-range devices. Exynos appears in 26 entries with limited usage. Tensor processors show minimal representation at 8 times, limited to specific premium devices.</a:t>
            </a:r>
            <a:endParaRPr lang="en-US" sz="1550" dirty="0"/>
          </a:p>
        </p:txBody>
      </p:sp>
    </p:spTree>
    <p:extLst>
      <p:ext uri="{BB962C8B-B14F-4D97-AF65-F5344CB8AC3E}">
        <p14:creationId xmlns:p14="http://schemas.microsoft.com/office/powerpoint/2010/main" val="30607189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100000">
              <a:srgbClr val="CCECFF"/>
            </a:gs>
            <a:gs pos="18000">
              <a:srgbClr val="FFCCFF"/>
            </a:gs>
          </a:gsLst>
          <a:lin ang="5400000" scaled="1"/>
        </a:gradFill>
        <a:effectLst/>
      </p:bgPr>
    </p:bg>
    <p:spTree>
      <p:nvGrpSpPr>
        <p:cNvPr id="1" name="">
          <a:extLst>
            <a:ext uri="{FF2B5EF4-FFF2-40B4-BE49-F238E27FC236}">
              <a16:creationId xmlns:a16="http://schemas.microsoft.com/office/drawing/2014/main" id="{31A4D4BB-3754-E3FF-AA00-3409795D504C}"/>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0DB3B9B3-131A-FAA5-5E48-DC8DDC129900}"/>
              </a:ext>
            </a:extLst>
          </p:cNvPr>
          <p:cNvSpPr/>
          <p:nvPr/>
        </p:nvSpPr>
        <p:spPr>
          <a:xfrm>
            <a:off x="2587113" y="137774"/>
            <a:ext cx="6561892" cy="620078"/>
          </a:xfrm>
          <a:prstGeom prst="rect">
            <a:avLst/>
          </a:prstGeom>
          <a:noFill/>
          <a:ln/>
        </p:spPr>
        <p:txBody>
          <a:bodyPr wrap="none" lIns="0" tIns="0" rIns="0" bIns="0" rtlCol="0" anchor="t"/>
          <a:lstStyle/>
          <a:p>
            <a:pPr marL="0" indent="0" algn="l">
              <a:lnSpc>
                <a:spcPts val="4850"/>
              </a:lnSpc>
              <a:buNone/>
            </a:pPr>
            <a:r>
              <a:rPr lang="en-US" sz="3900" dirty="0">
                <a:solidFill>
                  <a:srgbClr val="3F6FF3"/>
                </a:solidFill>
                <a:latin typeface="Outfit Medium" pitchFamily="34" charset="0"/>
                <a:ea typeface="Outfit Medium" pitchFamily="34" charset="-122"/>
                <a:cs typeface="Outfit Medium" pitchFamily="34" charset="-120"/>
              </a:rPr>
              <a:t>Memory and Storage Analysis</a:t>
            </a:r>
            <a:endParaRPr lang="en-US" sz="3900" dirty="0"/>
          </a:p>
        </p:txBody>
      </p:sp>
      <p:sp>
        <p:nvSpPr>
          <p:cNvPr id="5" name="Text 1">
            <a:extLst>
              <a:ext uri="{FF2B5EF4-FFF2-40B4-BE49-F238E27FC236}">
                <a16:creationId xmlns:a16="http://schemas.microsoft.com/office/drawing/2014/main" id="{C34A0BFB-1000-D55C-F443-5FAA6597D48B}"/>
              </a:ext>
            </a:extLst>
          </p:cNvPr>
          <p:cNvSpPr/>
          <p:nvPr/>
        </p:nvSpPr>
        <p:spPr>
          <a:xfrm>
            <a:off x="217294" y="2698929"/>
            <a:ext cx="2441138" cy="496133"/>
          </a:xfrm>
          <a:prstGeom prst="rect">
            <a:avLst/>
          </a:prstGeom>
          <a:noFill/>
          <a:ln/>
        </p:spPr>
        <p:txBody>
          <a:bodyPr wrap="none" lIns="0" tIns="0" rIns="0" bIns="0" rtlCol="0" anchor="t"/>
          <a:lstStyle/>
          <a:p>
            <a:pPr marL="0" indent="0" algn="ctr">
              <a:lnSpc>
                <a:spcPts val="3900"/>
              </a:lnSpc>
              <a:buNone/>
            </a:pPr>
            <a:r>
              <a:rPr lang="en-US" sz="3900" dirty="0">
                <a:solidFill>
                  <a:srgbClr val="666666"/>
                </a:solidFill>
                <a:latin typeface="Outfit Medium" pitchFamily="34" charset="0"/>
                <a:ea typeface="Outfit Medium" pitchFamily="34" charset="-122"/>
                <a:cs typeface="Outfit Medium" pitchFamily="34" charset="-120"/>
              </a:rPr>
              <a:t>110.55</a:t>
            </a:r>
            <a:endParaRPr lang="en-US" sz="3900" dirty="0"/>
          </a:p>
        </p:txBody>
      </p:sp>
      <p:pic>
        <p:nvPicPr>
          <p:cNvPr id="6" name="Image 0" descr="preencoded.png">
            <a:extLst>
              <a:ext uri="{FF2B5EF4-FFF2-40B4-BE49-F238E27FC236}">
                <a16:creationId xmlns:a16="http://schemas.microsoft.com/office/drawing/2014/main" id="{BE068C0A-B56A-31B1-94A7-A8FD0013F086}"/>
              </a:ext>
            </a:extLst>
          </p:cNvPr>
          <p:cNvPicPr>
            <a:picLocks noChangeAspect="1"/>
          </p:cNvPicPr>
          <p:nvPr/>
        </p:nvPicPr>
        <p:blipFill>
          <a:blip r:embed="rId2"/>
          <a:stretch>
            <a:fillRect/>
          </a:stretch>
        </p:blipFill>
        <p:spPr>
          <a:xfrm>
            <a:off x="197409" y="1539140"/>
            <a:ext cx="2847753" cy="2977039"/>
          </a:xfrm>
          <a:prstGeom prst="rect">
            <a:avLst/>
          </a:prstGeom>
        </p:spPr>
      </p:pic>
      <p:sp>
        <p:nvSpPr>
          <p:cNvPr id="7" name="Text 2">
            <a:extLst>
              <a:ext uri="{FF2B5EF4-FFF2-40B4-BE49-F238E27FC236}">
                <a16:creationId xmlns:a16="http://schemas.microsoft.com/office/drawing/2014/main" id="{6DF01F62-CFD5-9898-C690-5E0D517B8C34}"/>
              </a:ext>
            </a:extLst>
          </p:cNvPr>
          <p:cNvSpPr/>
          <p:nvPr/>
        </p:nvSpPr>
        <p:spPr>
          <a:xfrm>
            <a:off x="564257" y="4683462"/>
            <a:ext cx="2480905" cy="310158"/>
          </a:xfrm>
          <a:prstGeom prst="rect">
            <a:avLst/>
          </a:prstGeom>
          <a:noFill/>
          <a:ln/>
        </p:spPr>
        <p:txBody>
          <a:bodyPr wrap="none" lIns="0" tIns="0" rIns="0" bIns="0" rtlCol="0" anchor="t"/>
          <a:lstStyle/>
          <a:p>
            <a:pPr marL="0" indent="0" algn="ctr">
              <a:lnSpc>
                <a:spcPts val="2400"/>
              </a:lnSpc>
              <a:buNone/>
            </a:pPr>
            <a:r>
              <a:rPr lang="en-US" sz="1950" dirty="0">
                <a:solidFill>
                  <a:srgbClr val="666666"/>
                </a:solidFill>
                <a:latin typeface="Outfit Medium" pitchFamily="34" charset="0"/>
                <a:ea typeface="Outfit Medium" pitchFamily="34" charset="-122"/>
                <a:cs typeface="Outfit Medium" pitchFamily="34" charset="-120"/>
              </a:rPr>
              <a:t>Average Memory (GB)</a:t>
            </a:r>
            <a:endParaRPr lang="en-US" sz="1950" dirty="0"/>
          </a:p>
        </p:txBody>
      </p:sp>
      <p:sp>
        <p:nvSpPr>
          <p:cNvPr id="8" name="Text 3">
            <a:extLst>
              <a:ext uri="{FF2B5EF4-FFF2-40B4-BE49-F238E27FC236}">
                <a16:creationId xmlns:a16="http://schemas.microsoft.com/office/drawing/2014/main" id="{B895235C-C588-3CBF-3925-475F8D9B1599}"/>
              </a:ext>
            </a:extLst>
          </p:cNvPr>
          <p:cNvSpPr/>
          <p:nvPr/>
        </p:nvSpPr>
        <p:spPr>
          <a:xfrm>
            <a:off x="4647490" y="2698929"/>
            <a:ext cx="2441138" cy="496133"/>
          </a:xfrm>
          <a:prstGeom prst="rect">
            <a:avLst/>
          </a:prstGeom>
          <a:noFill/>
          <a:ln/>
        </p:spPr>
        <p:txBody>
          <a:bodyPr wrap="none" lIns="0" tIns="0" rIns="0" bIns="0" rtlCol="0" anchor="t"/>
          <a:lstStyle/>
          <a:p>
            <a:pPr marL="0" indent="0" algn="ctr">
              <a:lnSpc>
                <a:spcPts val="3900"/>
              </a:lnSpc>
              <a:buNone/>
            </a:pPr>
            <a:r>
              <a:rPr lang="en-US" sz="3900" dirty="0">
                <a:solidFill>
                  <a:srgbClr val="666666"/>
                </a:solidFill>
                <a:latin typeface="Outfit Medium" pitchFamily="34" charset="0"/>
                <a:ea typeface="Outfit Medium" pitchFamily="34" charset="-122"/>
                <a:cs typeface="Outfit Medium" pitchFamily="34" charset="-120"/>
              </a:rPr>
              <a:t>128</a:t>
            </a:r>
            <a:endParaRPr lang="en-US" sz="3900" dirty="0"/>
          </a:p>
        </p:txBody>
      </p:sp>
      <p:pic>
        <p:nvPicPr>
          <p:cNvPr id="9" name="Image 1" descr="preencoded.png">
            <a:extLst>
              <a:ext uri="{FF2B5EF4-FFF2-40B4-BE49-F238E27FC236}">
                <a16:creationId xmlns:a16="http://schemas.microsoft.com/office/drawing/2014/main" id="{28FC5574-79F3-BF57-6ACC-3615DC209754}"/>
              </a:ext>
            </a:extLst>
          </p:cNvPr>
          <p:cNvPicPr>
            <a:picLocks noChangeAspect="1"/>
          </p:cNvPicPr>
          <p:nvPr/>
        </p:nvPicPr>
        <p:blipFill>
          <a:blip r:embed="rId2"/>
          <a:stretch>
            <a:fillRect/>
          </a:stretch>
        </p:blipFill>
        <p:spPr>
          <a:xfrm>
            <a:off x="4379600" y="1458535"/>
            <a:ext cx="2977039" cy="2977039"/>
          </a:xfrm>
          <a:prstGeom prst="rect">
            <a:avLst/>
          </a:prstGeom>
        </p:spPr>
      </p:pic>
      <p:sp>
        <p:nvSpPr>
          <p:cNvPr id="10" name="Text 4">
            <a:extLst>
              <a:ext uri="{FF2B5EF4-FFF2-40B4-BE49-F238E27FC236}">
                <a16:creationId xmlns:a16="http://schemas.microsoft.com/office/drawing/2014/main" id="{615359C7-0BA8-AF9D-1006-733DC955D420}"/>
              </a:ext>
            </a:extLst>
          </p:cNvPr>
          <p:cNvSpPr/>
          <p:nvPr/>
        </p:nvSpPr>
        <p:spPr>
          <a:xfrm>
            <a:off x="4627726" y="4683462"/>
            <a:ext cx="2480905" cy="310158"/>
          </a:xfrm>
          <a:prstGeom prst="rect">
            <a:avLst/>
          </a:prstGeom>
          <a:noFill/>
          <a:ln/>
        </p:spPr>
        <p:txBody>
          <a:bodyPr wrap="none" lIns="0" tIns="0" rIns="0" bIns="0" rtlCol="0" anchor="t"/>
          <a:lstStyle/>
          <a:p>
            <a:pPr marL="0" indent="0" algn="ctr">
              <a:lnSpc>
                <a:spcPts val="2400"/>
              </a:lnSpc>
              <a:buNone/>
            </a:pPr>
            <a:r>
              <a:rPr lang="en-US" sz="1950" dirty="0">
                <a:solidFill>
                  <a:srgbClr val="666666"/>
                </a:solidFill>
                <a:latin typeface="Outfit Medium" pitchFamily="34" charset="0"/>
                <a:ea typeface="Outfit Medium" pitchFamily="34" charset="-122"/>
                <a:cs typeface="Outfit Medium" pitchFamily="34" charset="-120"/>
              </a:rPr>
              <a:t>Median Memory (GB)</a:t>
            </a:r>
            <a:endParaRPr lang="en-US" sz="1950" dirty="0"/>
          </a:p>
        </p:txBody>
      </p:sp>
      <p:sp>
        <p:nvSpPr>
          <p:cNvPr id="21" name="Text 5">
            <a:extLst>
              <a:ext uri="{FF2B5EF4-FFF2-40B4-BE49-F238E27FC236}">
                <a16:creationId xmlns:a16="http://schemas.microsoft.com/office/drawing/2014/main" id="{C7677094-6D6D-FCFC-1B5A-E36941FE124F}"/>
              </a:ext>
            </a:extLst>
          </p:cNvPr>
          <p:cNvSpPr/>
          <p:nvPr/>
        </p:nvSpPr>
        <p:spPr>
          <a:xfrm>
            <a:off x="9077806" y="2698929"/>
            <a:ext cx="2441138" cy="496133"/>
          </a:xfrm>
          <a:prstGeom prst="rect">
            <a:avLst/>
          </a:prstGeom>
          <a:noFill/>
          <a:ln/>
        </p:spPr>
        <p:txBody>
          <a:bodyPr wrap="none" lIns="0" tIns="0" rIns="0" bIns="0" rtlCol="0" anchor="t"/>
          <a:lstStyle/>
          <a:p>
            <a:pPr marL="0" indent="0" algn="ctr">
              <a:lnSpc>
                <a:spcPts val="3900"/>
              </a:lnSpc>
              <a:buNone/>
            </a:pPr>
            <a:r>
              <a:rPr lang="en-US" sz="3900" dirty="0">
                <a:solidFill>
                  <a:srgbClr val="666666"/>
                </a:solidFill>
                <a:latin typeface="Outfit Medium" pitchFamily="34" charset="0"/>
                <a:ea typeface="Outfit Medium" pitchFamily="34" charset="-122"/>
                <a:cs typeface="Outfit Medium" pitchFamily="34" charset="-120"/>
              </a:rPr>
              <a:t>1.03</a:t>
            </a:r>
            <a:endParaRPr lang="en-US" sz="3900" dirty="0"/>
          </a:p>
        </p:txBody>
      </p:sp>
      <p:pic>
        <p:nvPicPr>
          <p:cNvPr id="33" name="Image 2" descr="preencoded.png">
            <a:extLst>
              <a:ext uri="{FF2B5EF4-FFF2-40B4-BE49-F238E27FC236}">
                <a16:creationId xmlns:a16="http://schemas.microsoft.com/office/drawing/2014/main" id="{47E17C16-E234-1C48-2C10-88D56CC164F5}"/>
              </a:ext>
            </a:extLst>
          </p:cNvPr>
          <p:cNvPicPr>
            <a:picLocks noChangeAspect="1"/>
          </p:cNvPicPr>
          <p:nvPr/>
        </p:nvPicPr>
        <p:blipFill>
          <a:blip r:embed="rId3"/>
          <a:stretch>
            <a:fillRect/>
          </a:stretch>
        </p:blipFill>
        <p:spPr>
          <a:xfrm>
            <a:off x="8809915" y="1458535"/>
            <a:ext cx="2977039" cy="2977039"/>
          </a:xfrm>
          <a:prstGeom prst="rect">
            <a:avLst/>
          </a:prstGeom>
        </p:spPr>
      </p:pic>
      <p:sp>
        <p:nvSpPr>
          <p:cNvPr id="34" name="Text 6">
            <a:extLst>
              <a:ext uri="{FF2B5EF4-FFF2-40B4-BE49-F238E27FC236}">
                <a16:creationId xmlns:a16="http://schemas.microsoft.com/office/drawing/2014/main" id="{829C22E6-9843-C27A-C147-7720810CD259}"/>
              </a:ext>
            </a:extLst>
          </p:cNvPr>
          <p:cNvSpPr/>
          <p:nvPr/>
        </p:nvSpPr>
        <p:spPr>
          <a:xfrm>
            <a:off x="9058041" y="4683462"/>
            <a:ext cx="2480905" cy="310158"/>
          </a:xfrm>
          <a:prstGeom prst="rect">
            <a:avLst/>
          </a:prstGeom>
          <a:noFill/>
          <a:ln/>
        </p:spPr>
        <p:txBody>
          <a:bodyPr wrap="none" lIns="0" tIns="0" rIns="0" bIns="0" rtlCol="0" anchor="t"/>
          <a:lstStyle/>
          <a:p>
            <a:pPr marL="0" indent="0" algn="ctr">
              <a:lnSpc>
                <a:spcPts val="2400"/>
              </a:lnSpc>
              <a:buNone/>
            </a:pPr>
            <a:r>
              <a:rPr lang="en-US" sz="1950" dirty="0">
                <a:solidFill>
                  <a:srgbClr val="666666"/>
                </a:solidFill>
                <a:latin typeface="Outfit Medium" pitchFamily="34" charset="0"/>
                <a:ea typeface="Outfit Medium" pitchFamily="34" charset="-122"/>
                <a:cs typeface="Outfit Medium" pitchFamily="34" charset="-120"/>
              </a:rPr>
              <a:t>Skewness</a:t>
            </a:r>
            <a:endParaRPr lang="en-US" sz="1950" dirty="0"/>
          </a:p>
        </p:txBody>
      </p:sp>
      <p:sp>
        <p:nvSpPr>
          <p:cNvPr id="35" name="Text 7">
            <a:extLst>
              <a:ext uri="{FF2B5EF4-FFF2-40B4-BE49-F238E27FC236}">
                <a16:creationId xmlns:a16="http://schemas.microsoft.com/office/drawing/2014/main" id="{601AE755-7BE1-5434-0176-40B7DC77B5DF}"/>
              </a:ext>
            </a:extLst>
          </p:cNvPr>
          <p:cNvSpPr/>
          <p:nvPr/>
        </p:nvSpPr>
        <p:spPr>
          <a:xfrm>
            <a:off x="197409" y="5216862"/>
            <a:ext cx="11473481" cy="1503364"/>
          </a:xfrm>
          <a:prstGeom prst="rect">
            <a:avLst/>
          </a:prstGeom>
          <a:noFill/>
          <a:ln/>
        </p:spPr>
        <p:txBody>
          <a:bodyPr wrap="square" lIns="0" tIns="0" rIns="0" bIns="0" rtlCol="0" anchor="t"/>
          <a:lstStyle/>
          <a:p>
            <a:pPr marL="0" indent="0" algn="l">
              <a:lnSpc>
                <a:spcPts val="2500"/>
              </a:lnSpc>
              <a:buNone/>
            </a:pPr>
            <a:r>
              <a:rPr lang="en-US" sz="1550" dirty="0">
                <a:solidFill>
                  <a:srgbClr val="666666"/>
                </a:solidFill>
                <a:latin typeface="IBM Plex Sans" pitchFamily="34" charset="0"/>
                <a:ea typeface="IBM Plex Sans" pitchFamily="34" charset="-122"/>
                <a:cs typeface="IBM Plex Sans" pitchFamily="34" charset="-120"/>
              </a:rPr>
              <a:t>Memory ranges from 16 GB to 256 GB with 541 observations. Distribution shows slight left-skew as mean is lower than median. IQR shows 50% of devices have memory between 64-128 GB. Strong clustering at 128 GB indicates it as most common configuration. Multiple peaks suggest market segmentation: budget (64 GB), mid-range (128 GB), and premium (256 GB).</a:t>
            </a:r>
            <a:endParaRPr lang="en-US" sz="1550" dirty="0"/>
          </a:p>
        </p:txBody>
      </p:sp>
    </p:spTree>
    <p:extLst>
      <p:ext uri="{BB962C8B-B14F-4D97-AF65-F5344CB8AC3E}">
        <p14:creationId xmlns:p14="http://schemas.microsoft.com/office/powerpoint/2010/main" val="26598613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100000">
              <a:srgbClr val="CCECFF"/>
            </a:gs>
            <a:gs pos="18000">
              <a:srgbClr val="FFCCFF"/>
            </a:gs>
          </a:gsLst>
          <a:lin ang="5400000" scaled="1"/>
        </a:gradFill>
        <a:effectLst/>
      </p:bgPr>
    </p:bg>
    <p:spTree>
      <p:nvGrpSpPr>
        <p:cNvPr id="1" name="">
          <a:extLst>
            <a:ext uri="{FF2B5EF4-FFF2-40B4-BE49-F238E27FC236}">
              <a16:creationId xmlns:a16="http://schemas.microsoft.com/office/drawing/2014/main" id="{10422783-48AE-2AD4-F49D-F6778497C56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E7A13A3-1CA3-A3DF-4A2B-C3A56B49B4D6}"/>
              </a:ext>
            </a:extLst>
          </p:cNvPr>
          <p:cNvSpPr/>
          <p:nvPr/>
        </p:nvSpPr>
        <p:spPr>
          <a:xfrm>
            <a:off x="268351" y="165214"/>
            <a:ext cx="6019681" cy="620078"/>
          </a:xfrm>
          <a:prstGeom prst="rect">
            <a:avLst/>
          </a:prstGeom>
          <a:noFill/>
          <a:ln/>
        </p:spPr>
        <p:txBody>
          <a:bodyPr wrap="none" lIns="0" tIns="0" rIns="0" bIns="0" rtlCol="0" anchor="t"/>
          <a:lstStyle/>
          <a:p>
            <a:pPr marL="0" indent="0" algn="l">
              <a:lnSpc>
                <a:spcPts val="4850"/>
              </a:lnSpc>
              <a:buNone/>
            </a:pPr>
            <a:r>
              <a:rPr lang="en-US" sz="3900" dirty="0">
                <a:solidFill>
                  <a:srgbClr val="3F6FF3"/>
                </a:solidFill>
                <a:latin typeface="Outfit Medium" pitchFamily="34" charset="0"/>
                <a:ea typeface="Outfit Medium" pitchFamily="34" charset="-122"/>
                <a:cs typeface="Outfit Medium" pitchFamily="34" charset="-120"/>
              </a:rPr>
              <a:t>RAM Configuration Insights</a:t>
            </a:r>
            <a:endParaRPr lang="en-US" sz="3900" dirty="0"/>
          </a:p>
        </p:txBody>
      </p:sp>
      <p:pic>
        <p:nvPicPr>
          <p:cNvPr id="3" name="Image 0" descr="preencoded.png">
            <a:extLst>
              <a:ext uri="{FF2B5EF4-FFF2-40B4-BE49-F238E27FC236}">
                <a16:creationId xmlns:a16="http://schemas.microsoft.com/office/drawing/2014/main" id="{7592B328-E368-8CBD-1D34-5860D477B66F}"/>
              </a:ext>
            </a:extLst>
          </p:cNvPr>
          <p:cNvPicPr>
            <a:picLocks noChangeAspect="1"/>
          </p:cNvPicPr>
          <p:nvPr/>
        </p:nvPicPr>
        <p:blipFill>
          <a:blip r:embed="rId2"/>
          <a:stretch>
            <a:fillRect/>
          </a:stretch>
        </p:blipFill>
        <p:spPr>
          <a:xfrm>
            <a:off x="76320" y="1158903"/>
            <a:ext cx="3219540" cy="793790"/>
          </a:xfrm>
          <a:prstGeom prst="rect">
            <a:avLst/>
          </a:prstGeom>
        </p:spPr>
      </p:pic>
      <p:sp>
        <p:nvSpPr>
          <p:cNvPr id="11" name="Text 1">
            <a:extLst>
              <a:ext uri="{FF2B5EF4-FFF2-40B4-BE49-F238E27FC236}">
                <a16:creationId xmlns:a16="http://schemas.microsoft.com/office/drawing/2014/main" id="{0C3A568B-5BE5-CDF1-2F6A-4254F74E7B68}"/>
              </a:ext>
            </a:extLst>
          </p:cNvPr>
          <p:cNvSpPr/>
          <p:nvPr/>
        </p:nvSpPr>
        <p:spPr>
          <a:xfrm>
            <a:off x="274677" y="2151051"/>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666666"/>
                </a:solidFill>
                <a:latin typeface="Outfit Medium" pitchFamily="34" charset="0"/>
                <a:ea typeface="Outfit Medium" pitchFamily="34" charset="-122"/>
                <a:cs typeface="Outfit Medium" pitchFamily="34" charset="-120"/>
              </a:rPr>
              <a:t>4 GB RAM</a:t>
            </a:r>
            <a:endParaRPr lang="en-US" sz="1950" dirty="0"/>
          </a:p>
        </p:txBody>
      </p:sp>
      <p:sp>
        <p:nvSpPr>
          <p:cNvPr id="12" name="Text 2">
            <a:extLst>
              <a:ext uri="{FF2B5EF4-FFF2-40B4-BE49-F238E27FC236}">
                <a16:creationId xmlns:a16="http://schemas.microsoft.com/office/drawing/2014/main" id="{01CA8FF6-722C-809F-EE17-CC54D18469F7}"/>
              </a:ext>
            </a:extLst>
          </p:cNvPr>
          <p:cNvSpPr/>
          <p:nvPr/>
        </p:nvSpPr>
        <p:spPr>
          <a:xfrm>
            <a:off x="274677" y="2580271"/>
            <a:ext cx="3950851" cy="317540"/>
          </a:xfrm>
          <a:prstGeom prst="rect">
            <a:avLst/>
          </a:prstGeom>
          <a:noFill/>
          <a:ln/>
        </p:spPr>
        <p:txBody>
          <a:bodyPr wrap="none" lIns="0" tIns="0" rIns="0" bIns="0" rtlCol="0" anchor="t"/>
          <a:lstStyle/>
          <a:p>
            <a:pPr marL="0" indent="0" algn="l">
              <a:lnSpc>
                <a:spcPts val="2500"/>
              </a:lnSpc>
              <a:buNone/>
            </a:pPr>
            <a:r>
              <a:rPr lang="en-US" sz="1550" dirty="0">
                <a:solidFill>
                  <a:srgbClr val="666666"/>
                </a:solidFill>
                <a:latin typeface="IBM Plex Sans" pitchFamily="34" charset="0"/>
                <a:ea typeface="IBM Plex Sans" pitchFamily="34" charset="-122"/>
                <a:cs typeface="IBM Plex Sans" pitchFamily="34" charset="-120"/>
              </a:rPr>
              <a:t>Highest frequency - Mid-range standard</a:t>
            </a:r>
            <a:endParaRPr lang="en-US" sz="1550" dirty="0"/>
          </a:p>
        </p:txBody>
      </p:sp>
      <p:pic>
        <p:nvPicPr>
          <p:cNvPr id="13" name="Image 1" descr="preencoded.png">
            <a:extLst>
              <a:ext uri="{FF2B5EF4-FFF2-40B4-BE49-F238E27FC236}">
                <a16:creationId xmlns:a16="http://schemas.microsoft.com/office/drawing/2014/main" id="{A0D77DFC-38AB-8018-5EA4-57D638E56B5E}"/>
              </a:ext>
            </a:extLst>
          </p:cNvPr>
          <p:cNvPicPr>
            <a:picLocks noChangeAspect="1"/>
          </p:cNvPicPr>
          <p:nvPr/>
        </p:nvPicPr>
        <p:blipFill>
          <a:blip r:embed="rId3"/>
          <a:stretch>
            <a:fillRect/>
          </a:stretch>
        </p:blipFill>
        <p:spPr>
          <a:xfrm>
            <a:off x="3691467" y="1153961"/>
            <a:ext cx="3742372" cy="793790"/>
          </a:xfrm>
          <a:prstGeom prst="rect">
            <a:avLst/>
          </a:prstGeom>
        </p:spPr>
      </p:pic>
      <p:sp>
        <p:nvSpPr>
          <p:cNvPr id="14" name="Text 3">
            <a:extLst>
              <a:ext uri="{FF2B5EF4-FFF2-40B4-BE49-F238E27FC236}">
                <a16:creationId xmlns:a16="http://schemas.microsoft.com/office/drawing/2014/main" id="{F5467F32-BCDC-721F-D816-9607B9AA189F}"/>
              </a:ext>
            </a:extLst>
          </p:cNvPr>
          <p:cNvSpPr/>
          <p:nvPr/>
        </p:nvSpPr>
        <p:spPr>
          <a:xfrm>
            <a:off x="4622244" y="2151051"/>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666666"/>
                </a:solidFill>
                <a:latin typeface="Outfit Medium" pitchFamily="34" charset="0"/>
                <a:ea typeface="Outfit Medium" pitchFamily="34" charset="-122"/>
                <a:cs typeface="Outfit Medium" pitchFamily="34" charset="-120"/>
              </a:rPr>
              <a:t>6 GB RAM</a:t>
            </a:r>
            <a:endParaRPr lang="en-US" sz="1950" dirty="0"/>
          </a:p>
        </p:txBody>
      </p:sp>
      <p:sp>
        <p:nvSpPr>
          <p:cNvPr id="15" name="Text 4">
            <a:extLst>
              <a:ext uri="{FF2B5EF4-FFF2-40B4-BE49-F238E27FC236}">
                <a16:creationId xmlns:a16="http://schemas.microsoft.com/office/drawing/2014/main" id="{2AE28B90-DB40-3FB1-2361-F888DDDAC339}"/>
              </a:ext>
            </a:extLst>
          </p:cNvPr>
          <p:cNvSpPr/>
          <p:nvPr/>
        </p:nvSpPr>
        <p:spPr>
          <a:xfrm>
            <a:off x="4622244" y="2580271"/>
            <a:ext cx="3950851" cy="635079"/>
          </a:xfrm>
          <a:prstGeom prst="rect">
            <a:avLst/>
          </a:prstGeom>
          <a:noFill/>
          <a:ln/>
        </p:spPr>
        <p:txBody>
          <a:bodyPr wrap="square" lIns="0" tIns="0" rIns="0" bIns="0" rtlCol="0" anchor="t"/>
          <a:lstStyle/>
          <a:p>
            <a:pPr marL="0" indent="0" algn="l">
              <a:lnSpc>
                <a:spcPts val="2500"/>
              </a:lnSpc>
              <a:buNone/>
            </a:pPr>
            <a:r>
              <a:rPr lang="en-US" sz="1550" dirty="0">
                <a:solidFill>
                  <a:srgbClr val="666666"/>
                </a:solidFill>
                <a:latin typeface="IBM Plex Sans" pitchFamily="34" charset="0"/>
                <a:ea typeface="IBM Plex Sans" pitchFamily="34" charset="-122"/>
                <a:cs typeface="IBM Plex Sans" pitchFamily="34" charset="-120"/>
              </a:rPr>
              <a:t>Second most common - Balanced performance</a:t>
            </a:r>
            <a:endParaRPr lang="en-US" sz="1550" dirty="0"/>
          </a:p>
        </p:txBody>
      </p:sp>
      <p:pic>
        <p:nvPicPr>
          <p:cNvPr id="16" name="Image 2" descr="preencoded.png">
            <a:extLst>
              <a:ext uri="{FF2B5EF4-FFF2-40B4-BE49-F238E27FC236}">
                <a16:creationId xmlns:a16="http://schemas.microsoft.com/office/drawing/2014/main" id="{776185D0-0040-101D-5787-4EE57319CAD0}"/>
              </a:ext>
            </a:extLst>
          </p:cNvPr>
          <p:cNvPicPr>
            <a:picLocks noChangeAspect="1"/>
          </p:cNvPicPr>
          <p:nvPr/>
        </p:nvPicPr>
        <p:blipFill>
          <a:blip r:embed="rId4"/>
          <a:stretch>
            <a:fillRect/>
          </a:stretch>
        </p:blipFill>
        <p:spPr>
          <a:xfrm>
            <a:off x="7829447" y="1166522"/>
            <a:ext cx="3742373" cy="793790"/>
          </a:xfrm>
          <a:prstGeom prst="rect">
            <a:avLst/>
          </a:prstGeom>
        </p:spPr>
      </p:pic>
      <p:sp>
        <p:nvSpPr>
          <p:cNvPr id="17" name="Text 5">
            <a:extLst>
              <a:ext uri="{FF2B5EF4-FFF2-40B4-BE49-F238E27FC236}">
                <a16:creationId xmlns:a16="http://schemas.microsoft.com/office/drawing/2014/main" id="{1389DDA6-71EF-D2E8-EE75-CE52BF519311}"/>
              </a:ext>
            </a:extLst>
          </p:cNvPr>
          <p:cNvSpPr/>
          <p:nvPr/>
        </p:nvSpPr>
        <p:spPr>
          <a:xfrm>
            <a:off x="8969811" y="2151051"/>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666666"/>
                </a:solidFill>
                <a:latin typeface="Outfit Medium" pitchFamily="34" charset="0"/>
                <a:ea typeface="Outfit Medium" pitchFamily="34" charset="-122"/>
                <a:cs typeface="Outfit Medium" pitchFamily="34" charset="-120"/>
              </a:rPr>
              <a:t>8 GB RAM</a:t>
            </a:r>
            <a:endParaRPr lang="en-US" sz="1950" dirty="0"/>
          </a:p>
        </p:txBody>
      </p:sp>
      <p:sp>
        <p:nvSpPr>
          <p:cNvPr id="18" name="Text 6">
            <a:extLst>
              <a:ext uri="{FF2B5EF4-FFF2-40B4-BE49-F238E27FC236}">
                <a16:creationId xmlns:a16="http://schemas.microsoft.com/office/drawing/2014/main" id="{55500F66-CC6F-6CED-3D60-EE6BC468497B}"/>
              </a:ext>
            </a:extLst>
          </p:cNvPr>
          <p:cNvSpPr/>
          <p:nvPr/>
        </p:nvSpPr>
        <p:spPr>
          <a:xfrm>
            <a:off x="8969811" y="2580271"/>
            <a:ext cx="3950851" cy="317540"/>
          </a:xfrm>
          <a:prstGeom prst="rect">
            <a:avLst/>
          </a:prstGeom>
          <a:noFill/>
          <a:ln/>
        </p:spPr>
        <p:txBody>
          <a:bodyPr wrap="none" lIns="0" tIns="0" rIns="0" bIns="0" rtlCol="0" anchor="t"/>
          <a:lstStyle/>
          <a:p>
            <a:pPr marL="0" indent="0" algn="l">
              <a:lnSpc>
                <a:spcPts val="2500"/>
              </a:lnSpc>
              <a:buNone/>
            </a:pPr>
            <a:r>
              <a:rPr lang="en-US" sz="1550" dirty="0">
                <a:solidFill>
                  <a:srgbClr val="666666"/>
                </a:solidFill>
                <a:latin typeface="IBM Plex Sans" pitchFamily="34" charset="0"/>
                <a:ea typeface="IBM Plex Sans" pitchFamily="34" charset="-122"/>
                <a:cs typeface="IBM Plex Sans" pitchFamily="34" charset="-120"/>
              </a:rPr>
              <a:t>Performance tier - Premium segment</a:t>
            </a:r>
            <a:endParaRPr lang="en-US" sz="1550" dirty="0"/>
          </a:p>
        </p:txBody>
      </p:sp>
      <p:sp>
        <p:nvSpPr>
          <p:cNvPr id="19" name="Text 7">
            <a:extLst>
              <a:ext uri="{FF2B5EF4-FFF2-40B4-BE49-F238E27FC236}">
                <a16:creationId xmlns:a16="http://schemas.microsoft.com/office/drawing/2014/main" id="{D93F3552-A457-E4DF-AAAE-6550FD6B62DE}"/>
              </a:ext>
            </a:extLst>
          </p:cNvPr>
          <p:cNvSpPr/>
          <p:nvPr/>
        </p:nvSpPr>
        <p:spPr>
          <a:xfrm>
            <a:off x="268351" y="3635149"/>
            <a:ext cx="7632025" cy="1270159"/>
          </a:xfrm>
          <a:prstGeom prst="rect">
            <a:avLst/>
          </a:prstGeom>
          <a:noFill/>
          <a:ln/>
        </p:spPr>
        <p:txBody>
          <a:bodyPr wrap="square" lIns="0" tIns="0" rIns="0" bIns="0" rtlCol="0" anchor="t"/>
          <a:lstStyle/>
          <a:p>
            <a:pPr marL="0" indent="0" algn="l">
              <a:lnSpc>
                <a:spcPts val="2500"/>
              </a:lnSpc>
              <a:buNone/>
            </a:pPr>
            <a:r>
              <a:rPr lang="en-US" sz="1550" dirty="0">
                <a:solidFill>
                  <a:srgbClr val="666666"/>
                </a:solidFill>
                <a:latin typeface="IBM Plex Sans" pitchFamily="34" charset="0"/>
                <a:ea typeface="IBM Plex Sans" pitchFamily="34" charset="-122"/>
                <a:cs typeface="IBM Plex Sans" pitchFamily="34" charset="-120"/>
              </a:rPr>
              <a:t>Mean RAM at ~5.4 GB with median at 6 GB shows nearly symmetric distribution. Values range from 2-8 GB with IQR of 4-8 GB. KDE plot shows multiple peaks suggesting market segmentation with highest density around 4 GB and 8 GB configurations.</a:t>
            </a:r>
            <a:endParaRPr lang="en-US" sz="1550" dirty="0"/>
          </a:p>
        </p:txBody>
      </p:sp>
      <p:sp>
        <p:nvSpPr>
          <p:cNvPr id="20" name="Text 8">
            <a:extLst>
              <a:ext uri="{FF2B5EF4-FFF2-40B4-BE49-F238E27FC236}">
                <a16:creationId xmlns:a16="http://schemas.microsoft.com/office/drawing/2014/main" id="{81E3D671-3C2C-A7FF-6010-814E58F67B40}"/>
              </a:ext>
            </a:extLst>
          </p:cNvPr>
          <p:cNvSpPr/>
          <p:nvPr/>
        </p:nvSpPr>
        <p:spPr>
          <a:xfrm>
            <a:off x="6645252" y="4927885"/>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3F6FF3"/>
                </a:solidFill>
                <a:latin typeface="Outfit Medium" pitchFamily="34" charset="0"/>
                <a:ea typeface="Outfit Medium" pitchFamily="34" charset="-122"/>
                <a:cs typeface="Outfit Medium" pitchFamily="34" charset="-120"/>
              </a:rPr>
              <a:t>Key Finding</a:t>
            </a:r>
            <a:endParaRPr lang="en-US" sz="1950" dirty="0"/>
          </a:p>
        </p:txBody>
      </p:sp>
      <p:sp>
        <p:nvSpPr>
          <p:cNvPr id="22" name="Text 9">
            <a:extLst>
              <a:ext uri="{FF2B5EF4-FFF2-40B4-BE49-F238E27FC236}">
                <a16:creationId xmlns:a16="http://schemas.microsoft.com/office/drawing/2014/main" id="{AC781F6A-513F-9EF0-1AFA-FFF2F6A1070B}"/>
              </a:ext>
            </a:extLst>
          </p:cNvPr>
          <p:cNvSpPr/>
          <p:nvPr/>
        </p:nvSpPr>
        <p:spPr>
          <a:xfrm>
            <a:off x="6645252" y="5436401"/>
            <a:ext cx="4926568" cy="952619"/>
          </a:xfrm>
          <a:prstGeom prst="rect">
            <a:avLst/>
          </a:prstGeom>
          <a:noFill/>
          <a:ln/>
        </p:spPr>
        <p:txBody>
          <a:bodyPr wrap="square" lIns="0" tIns="0" rIns="0" bIns="0" rtlCol="0" anchor="t"/>
          <a:lstStyle/>
          <a:p>
            <a:pPr marL="0" indent="0" algn="l">
              <a:lnSpc>
                <a:spcPts val="2500"/>
              </a:lnSpc>
              <a:buNone/>
            </a:pPr>
            <a:r>
              <a:rPr lang="en-US" sz="1550" dirty="0">
                <a:solidFill>
                  <a:srgbClr val="666666"/>
                </a:solidFill>
                <a:latin typeface="IBM Plex Sans" pitchFamily="34" charset="0"/>
                <a:ea typeface="IBM Plex Sans" pitchFamily="34" charset="-122"/>
                <a:cs typeface="IBM Plex Sans" pitchFamily="34" charset="-120"/>
              </a:rPr>
              <a:t>4 GB RAM variant has highest frequency, followed by 8 GB and 6 GB, indicating strong usage of mid-range configurations.</a:t>
            </a:r>
            <a:endParaRPr lang="en-US" sz="1550" dirty="0"/>
          </a:p>
        </p:txBody>
      </p:sp>
    </p:spTree>
    <p:extLst>
      <p:ext uri="{BB962C8B-B14F-4D97-AF65-F5344CB8AC3E}">
        <p14:creationId xmlns:p14="http://schemas.microsoft.com/office/powerpoint/2010/main" val="39785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100000">
              <a:srgbClr val="CCECFF"/>
            </a:gs>
            <a:gs pos="18000">
              <a:srgbClr val="FFCCFF"/>
            </a:gs>
          </a:gsLst>
          <a:lin ang="5400000" scaled="1"/>
        </a:gradFill>
        <a:effectLst/>
      </p:bgPr>
    </p:bg>
    <p:spTree>
      <p:nvGrpSpPr>
        <p:cNvPr id="1" name="">
          <a:extLst>
            <a:ext uri="{FF2B5EF4-FFF2-40B4-BE49-F238E27FC236}">
              <a16:creationId xmlns:a16="http://schemas.microsoft.com/office/drawing/2014/main" id="{3CE8F2FD-CD54-187E-2FE0-225A9C7C7467}"/>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F843FF68-1113-C6BE-443E-4EEADB95568C}"/>
              </a:ext>
            </a:extLst>
          </p:cNvPr>
          <p:cNvSpPr/>
          <p:nvPr/>
        </p:nvSpPr>
        <p:spPr>
          <a:xfrm>
            <a:off x="2607662" y="70884"/>
            <a:ext cx="6476048" cy="620078"/>
          </a:xfrm>
          <a:prstGeom prst="rect">
            <a:avLst/>
          </a:prstGeom>
          <a:noFill/>
          <a:ln/>
        </p:spPr>
        <p:txBody>
          <a:bodyPr wrap="none" lIns="0" tIns="0" rIns="0" bIns="0" rtlCol="0" anchor="t"/>
          <a:lstStyle/>
          <a:p>
            <a:pPr marL="0" indent="0" algn="l">
              <a:lnSpc>
                <a:spcPts val="4850"/>
              </a:lnSpc>
              <a:buNone/>
            </a:pPr>
            <a:r>
              <a:rPr lang="en-US" sz="3900" dirty="0">
                <a:solidFill>
                  <a:srgbClr val="3F6FF3"/>
                </a:solidFill>
                <a:latin typeface="Outfit Medium" pitchFamily="34" charset="0"/>
                <a:ea typeface="Outfit Medium" pitchFamily="34" charset="-122"/>
                <a:cs typeface="Outfit Medium" pitchFamily="34" charset="-120"/>
              </a:rPr>
              <a:t>Battery Capacity Distribution</a:t>
            </a:r>
            <a:endParaRPr lang="en-US" sz="3900" dirty="0"/>
          </a:p>
        </p:txBody>
      </p:sp>
      <p:sp>
        <p:nvSpPr>
          <p:cNvPr id="5" name="Shape 1">
            <a:extLst>
              <a:ext uri="{FF2B5EF4-FFF2-40B4-BE49-F238E27FC236}">
                <a16:creationId xmlns:a16="http://schemas.microsoft.com/office/drawing/2014/main" id="{8B82C3BC-0E6D-BA0A-848B-45D7C71BB605}"/>
              </a:ext>
            </a:extLst>
          </p:cNvPr>
          <p:cNvSpPr/>
          <p:nvPr/>
        </p:nvSpPr>
        <p:spPr>
          <a:xfrm>
            <a:off x="245150" y="1172250"/>
            <a:ext cx="3493175" cy="248007"/>
          </a:xfrm>
          <a:prstGeom prst="roundRect">
            <a:avLst>
              <a:gd name="adj" fmla="val 72025"/>
            </a:avLst>
          </a:prstGeom>
          <a:solidFill>
            <a:srgbClr val="CFDBFC"/>
          </a:solidFill>
          <a:ln w="7620">
            <a:solidFill>
              <a:srgbClr val="B5C1E2"/>
            </a:solidFill>
            <a:prstDash val="solid"/>
          </a:ln>
          <a:effectLst>
            <a:outerShdw dist="25400" dir="2700000" algn="bl" rotWithShape="0">
              <a:srgbClr val="B5C1E2">
                <a:alpha val="100000"/>
              </a:srgbClr>
            </a:outerShdw>
          </a:effectLst>
        </p:spPr>
      </p:sp>
      <p:sp>
        <p:nvSpPr>
          <p:cNvPr id="6" name="Shape 2">
            <a:extLst>
              <a:ext uri="{FF2B5EF4-FFF2-40B4-BE49-F238E27FC236}">
                <a16:creationId xmlns:a16="http://schemas.microsoft.com/office/drawing/2014/main" id="{265ECB3A-F6EB-8628-4D60-A0A95E2134FA}"/>
              </a:ext>
            </a:extLst>
          </p:cNvPr>
          <p:cNvSpPr/>
          <p:nvPr/>
        </p:nvSpPr>
        <p:spPr>
          <a:xfrm>
            <a:off x="245150" y="1172250"/>
            <a:ext cx="3493175" cy="248007"/>
          </a:xfrm>
          <a:prstGeom prst="roundRect">
            <a:avLst>
              <a:gd name="adj" fmla="val 72025"/>
            </a:avLst>
          </a:prstGeom>
          <a:solidFill>
            <a:srgbClr val="A2B9F9"/>
          </a:solidFill>
          <a:ln/>
        </p:spPr>
      </p:sp>
      <p:sp>
        <p:nvSpPr>
          <p:cNvPr id="7" name="Text 3">
            <a:extLst>
              <a:ext uri="{FF2B5EF4-FFF2-40B4-BE49-F238E27FC236}">
                <a16:creationId xmlns:a16="http://schemas.microsoft.com/office/drawing/2014/main" id="{EAC75C6D-CCB4-BAF9-0B74-4B4C6CE5113D}"/>
              </a:ext>
            </a:extLst>
          </p:cNvPr>
          <p:cNvSpPr/>
          <p:nvPr/>
        </p:nvSpPr>
        <p:spPr>
          <a:xfrm>
            <a:off x="3887153" y="1172250"/>
            <a:ext cx="540187" cy="248007"/>
          </a:xfrm>
          <a:prstGeom prst="rect">
            <a:avLst/>
          </a:prstGeom>
          <a:noFill/>
          <a:ln/>
        </p:spPr>
        <p:txBody>
          <a:bodyPr wrap="none" lIns="0" tIns="0" rIns="0" bIns="0" rtlCol="0" anchor="t"/>
          <a:lstStyle/>
          <a:p>
            <a:pPr marL="0" indent="0" algn="l">
              <a:lnSpc>
                <a:spcPts val="1950"/>
              </a:lnSpc>
              <a:buNone/>
            </a:pPr>
            <a:r>
              <a:rPr lang="en-US" sz="1950" dirty="0">
                <a:solidFill>
                  <a:srgbClr val="666666"/>
                </a:solidFill>
                <a:latin typeface="Outfit Medium" pitchFamily="34" charset="0"/>
                <a:ea typeface="Outfit Medium" pitchFamily="34" charset="-122"/>
                <a:cs typeface="Outfit Medium" pitchFamily="34" charset="-120"/>
              </a:rPr>
              <a:t>4872</a:t>
            </a:r>
            <a:endParaRPr lang="en-US" sz="1950" dirty="0"/>
          </a:p>
        </p:txBody>
      </p:sp>
      <p:sp>
        <p:nvSpPr>
          <p:cNvPr id="8" name="Text 4">
            <a:extLst>
              <a:ext uri="{FF2B5EF4-FFF2-40B4-BE49-F238E27FC236}">
                <a16:creationId xmlns:a16="http://schemas.microsoft.com/office/drawing/2014/main" id="{82D0C0E3-ACB0-717A-AC9B-A1D10CF75FDA}"/>
              </a:ext>
            </a:extLst>
          </p:cNvPr>
          <p:cNvSpPr/>
          <p:nvPr/>
        </p:nvSpPr>
        <p:spPr>
          <a:xfrm>
            <a:off x="245150" y="1668264"/>
            <a:ext cx="2538889" cy="310158"/>
          </a:xfrm>
          <a:prstGeom prst="rect">
            <a:avLst/>
          </a:prstGeom>
          <a:noFill/>
          <a:ln/>
        </p:spPr>
        <p:txBody>
          <a:bodyPr wrap="none" lIns="0" tIns="0" rIns="0" bIns="0" rtlCol="0" anchor="t"/>
          <a:lstStyle/>
          <a:p>
            <a:pPr marL="0" indent="0" algn="l">
              <a:lnSpc>
                <a:spcPts val="2400"/>
              </a:lnSpc>
              <a:buNone/>
            </a:pPr>
            <a:r>
              <a:rPr lang="en-US" sz="1950" dirty="0">
                <a:solidFill>
                  <a:srgbClr val="666666"/>
                </a:solidFill>
                <a:latin typeface="Outfit Medium" pitchFamily="34" charset="0"/>
                <a:ea typeface="Outfit Medium" pitchFamily="34" charset="-122"/>
                <a:cs typeface="Outfit Medium" pitchFamily="34" charset="-120"/>
              </a:rPr>
              <a:t>Average Battery (mAh)</a:t>
            </a:r>
            <a:endParaRPr lang="en-US" sz="1950" dirty="0"/>
          </a:p>
        </p:txBody>
      </p:sp>
      <p:sp>
        <p:nvSpPr>
          <p:cNvPr id="9" name="Shape 5">
            <a:extLst>
              <a:ext uri="{FF2B5EF4-FFF2-40B4-BE49-F238E27FC236}">
                <a16:creationId xmlns:a16="http://schemas.microsoft.com/office/drawing/2014/main" id="{3DE8C164-FB95-4E0C-662C-D6DB896E2A4C}"/>
              </a:ext>
            </a:extLst>
          </p:cNvPr>
          <p:cNvSpPr/>
          <p:nvPr/>
        </p:nvSpPr>
        <p:spPr>
          <a:xfrm>
            <a:off x="245150" y="2335415"/>
            <a:ext cx="3410903" cy="248007"/>
          </a:xfrm>
          <a:prstGeom prst="roundRect">
            <a:avLst>
              <a:gd name="adj" fmla="val 72025"/>
            </a:avLst>
          </a:prstGeom>
          <a:solidFill>
            <a:srgbClr val="CFDBFC"/>
          </a:solidFill>
          <a:ln w="7620">
            <a:solidFill>
              <a:srgbClr val="B5C1E2"/>
            </a:solidFill>
            <a:prstDash val="solid"/>
          </a:ln>
          <a:effectLst>
            <a:outerShdw dist="25400" dir="2700000" algn="bl" rotWithShape="0">
              <a:srgbClr val="B5C1E2">
                <a:alpha val="100000"/>
              </a:srgbClr>
            </a:outerShdw>
          </a:effectLst>
        </p:spPr>
      </p:sp>
      <p:sp>
        <p:nvSpPr>
          <p:cNvPr id="10" name="Shape 6">
            <a:extLst>
              <a:ext uri="{FF2B5EF4-FFF2-40B4-BE49-F238E27FC236}">
                <a16:creationId xmlns:a16="http://schemas.microsoft.com/office/drawing/2014/main" id="{CCD4E97B-14D3-943D-E03D-91F56D55FD41}"/>
              </a:ext>
            </a:extLst>
          </p:cNvPr>
          <p:cNvSpPr/>
          <p:nvPr/>
        </p:nvSpPr>
        <p:spPr>
          <a:xfrm>
            <a:off x="245150" y="2335415"/>
            <a:ext cx="3410903" cy="248007"/>
          </a:xfrm>
          <a:prstGeom prst="roundRect">
            <a:avLst>
              <a:gd name="adj" fmla="val 72025"/>
            </a:avLst>
          </a:prstGeom>
          <a:solidFill>
            <a:srgbClr val="A2B9F9"/>
          </a:solidFill>
          <a:ln/>
        </p:spPr>
      </p:sp>
      <p:sp>
        <p:nvSpPr>
          <p:cNvPr id="21" name="Text 7">
            <a:extLst>
              <a:ext uri="{FF2B5EF4-FFF2-40B4-BE49-F238E27FC236}">
                <a16:creationId xmlns:a16="http://schemas.microsoft.com/office/drawing/2014/main" id="{E690D185-BA57-9515-6E86-B97BCDE4FB8A}"/>
              </a:ext>
            </a:extLst>
          </p:cNvPr>
          <p:cNvSpPr/>
          <p:nvPr/>
        </p:nvSpPr>
        <p:spPr>
          <a:xfrm>
            <a:off x="3804881" y="2335415"/>
            <a:ext cx="622578" cy="248007"/>
          </a:xfrm>
          <a:prstGeom prst="rect">
            <a:avLst/>
          </a:prstGeom>
          <a:noFill/>
          <a:ln/>
        </p:spPr>
        <p:txBody>
          <a:bodyPr wrap="none" lIns="0" tIns="0" rIns="0" bIns="0" rtlCol="0" anchor="t"/>
          <a:lstStyle/>
          <a:p>
            <a:pPr marL="0" indent="0" algn="l">
              <a:lnSpc>
                <a:spcPts val="1950"/>
              </a:lnSpc>
              <a:buNone/>
            </a:pPr>
            <a:r>
              <a:rPr lang="en-US" sz="1950" dirty="0">
                <a:solidFill>
                  <a:srgbClr val="666666"/>
                </a:solidFill>
                <a:latin typeface="Outfit Medium" pitchFamily="34" charset="0"/>
                <a:ea typeface="Outfit Medium" pitchFamily="34" charset="-122"/>
                <a:cs typeface="Outfit Medium" pitchFamily="34" charset="-120"/>
              </a:rPr>
              <a:t>5000</a:t>
            </a:r>
            <a:endParaRPr lang="en-US" sz="1950" dirty="0"/>
          </a:p>
        </p:txBody>
      </p:sp>
      <p:sp>
        <p:nvSpPr>
          <p:cNvPr id="23" name="Text 8">
            <a:extLst>
              <a:ext uri="{FF2B5EF4-FFF2-40B4-BE49-F238E27FC236}">
                <a16:creationId xmlns:a16="http://schemas.microsoft.com/office/drawing/2014/main" id="{5084EBC1-94CC-51B4-471A-B891B3359EA5}"/>
              </a:ext>
            </a:extLst>
          </p:cNvPr>
          <p:cNvSpPr/>
          <p:nvPr/>
        </p:nvSpPr>
        <p:spPr>
          <a:xfrm>
            <a:off x="245150" y="2831429"/>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666666"/>
                </a:solidFill>
                <a:latin typeface="Outfit Medium" pitchFamily="34" charset="0"/>
                <a:ea typeface="Outfit Medium" pitchFamily="34" charset="-122"/>
                <a:cs typeface="Outfit Medium" pitchFamily="34" charset="-120"/>
              </a:rPr>
              <a:t>Median Battery (mAh)</a:t>
            </a:r>
            <a:endParaRPr lang="en-US" sz="1950" dirty="0"/>
          </a:p>
        </p:txBody>
      </p:sp>
      <p:sp>
        <p:nvSpPr>
          <p:cNvPr id="26" name="Text 11">
            <a:extLst>
              <a:ext uri="{FF2B5EF4-FFF2-40B4-BE49-F238E27FC236}">
                <a16:creationId xmlns:a16="http://schemas.microsoft.com/office/drawing/2014/main" id="{F128892F-6992-8F6F-5FC1-D75DB01E6754}"/>
              </a:ext>
            </a:extLst>
          </p:cNvPr>
          <p:cNvSpPr/>
          <p:nvPr/>
        </p:nvSpPr>
        <p:spPr>
          <a:xfrm>
            <a:off x="7963197" y="2785449"/>
            <a:ext cx="596741" cy="248007"/>
          </a:xfrm>
          <a:prstGeom prst="rect">
            <a:avLst/>
          </a:prstGeom>
          <a:noFill/>
          <a:ln/>
        </p:spPr>
        <p:txBody>
          <a:bodyPr wrap="none" lIns="0" tIns="0" rIns="0" bIns="0" rtlCol="0" anchor="t"/>
          <a:lstStyle/>
          <a:p>
            <a:pPr marL="0" indent="0" algn="l">
              <a:lnSpc>
                <a:spcPts val="1950"/>
              </a:lnSpc>
              <a:buNone/>
            </a:pPr>
            <a:endParaRPr lang="en-US" sz="1950" dirty="0"/>
          </a:p>
        </p:txBody>
      </p:sp>
      <p:sp>
        <p:nvSpPr>
          <p:cNvPr id="28" name="Text 13">
            <a:extLst>
              <a:ext uri="{FF2B5EF4-FFF2-40B4-BE49-F238E27FC236}">
                <a16:creationId xmlns:a16="http://schemas.microsoft.com/office/drawing/2014/main" id="{B7678FAD-A050-7C3A-0EE6-9EDA5359DF42}"/>
              </a:ext>
            </a:extLst>
          </p:cNvPr>
          <p:cNvSpPr/>
          <p:nvPr/>
        </p:nvSpPr>
        <p:spPr>
          <a:xfrm>
            <a:off x="120580" y="3781355"/>
            <a:ext cx="5975420" cy="2816761"/>
          </a:xfrm>
          <a:prstGeom prst="rect">
            <a:avLst/>
          </a:prstGeom>
          <a:noFill/>
          <a:ln/>
        </p:spPr>
        <p:txBody>
          <a:bodyPr wrap="square" lIns="0" tIns="0" rIns="0" bIns="0" rtlCol="0" anchor="t"/>
          <a:lstStyle/>
          <a:p>
            <a:pPr marL="0" indent="0" algn="l">
              <a:lnSpc>
                <a:spcPts val="2500"/>
              </a:lnSpc>
              <a:buNone/>
            </a:pPr>
            <a:r>
              <a:rPr lang="en-US" sz="1550" dirty="0">
                <a:solidFill>
                  <a:srgbClr val="666666"/>
                </a:solidFill>
                <a:latin typeface="IBM Plex Sans" pitchFamily="34" charset="0"/>
                <a:ea typeface="IBM Plex Sans" pitchFamily="34" charset="-122"/>
                <a:cs typeface="IBM Plex Sans" pitchFamily="34" charset="-120"/>
              </a:rPr>
              <a:t>Battery capacity shows highly left-skewed distribution with strong concentration at 5000 . Minimum battery is 800  while maximum </a:t>
            </a:r>
            <a:r>
              <a:rPr lang="en-US" sz="1550" dirty="0">
                <a:solidFill>
                  <a:srgbClr val="666666"/>
                </a:solidFill>
                <a:latin typeface="IBM Plex Sans" pitchFamily="34" charset="0"/>
              </a:rPr>
              <a:t>reaches 7000 . </a:t>
            </a:r>
          </a:p>
          <a:p>
            <a:pPr marL="0" indent="0" algn="l">
              <a:lnSpc>
                <a:spcPts val="2500"/>
              </a:lnSpc>
              <a:buNone/>
            </a:pPr>
            <a:endParaRPr lang="en-US" sz="1550" dirty="0">
              <a:solidFill>
                <a:srgbClr val="666666"/>
              </a:solidFill>
              <a:latin typeface="IBM Plex Sans" pitchFamily="34" charset="0"/>
            </a:endParaRPr>
          </a:p>
          <a:p>
            <a:pPr marL="0" indent="0" algn="l">
              <a:lnSpc>
                <a:spcPts val="2500"/>
              </a:lnSpc>
              <a:buNone/>
            </a:pPr>
            <a:r>
              <a:rPr lang="en-US" sz="1550" dirty="0">
                <a:solidFill>
                  <a:srgbClr val="666666"/>
                </a:solidFill>
                <a:latin typeface="IBM Plex Sans" pitchFamily="34" charset="0"/>
              </a:rPr>
              <a:t>The dataset shows a highly concentrated distribution around 5000 .</a:t>
            </a:r>
          </a:p>
          <a:p>
            <a:pPr marL="0" indent="0" algn="l">
              <a:lnSpc>
                <a:spcPts val="2500"/>
              </a:lnSpc>
              <a:buNone/>
            </a:pPr>
            <a:endParaRPr lang="en-US" sz="1550" dirty="0">
              <a:solidFill>
                <a:srgbClr val="666666"/>
              </a:solidFill>
              <a:latin typeface="IBM Plex Sans" pitchFamily="34" charset="0"/>
            </a:endParaRPr>
          </a:p>
          <a:p>
            <a:pPr marL="0" indent="0" algn="l">
              <a:lnSpc>
                <a:spcPts val="2500"/>
              </a:lnSpc>
              <a:buNone/>
            </a:pPr>
            <a:r>
              <a:rPr lang="en-US" sz="1550" dirty="0">
                <a:solidFill>
                  <a:srgbClr val="666666"/>
                </a:solidFill>
                <a:latin typeface="IBM Plex Sans" pitchFamily="34" charset="0"/>
              </a:rPr>
              <a:t>Lower battery categories are minimal and largely represent outdated or less relevant devices.”</a:t>
            </a:r>
          </a:p>
          <a:p>
            <a:pPr marL="0" indent="0" algn="l">
              <a:lnSpc>
                <a:spcPts val="2500"/>
              </a:lnSpc>
              <a:buNone/>
            </a:pPr>
            <a:endParaRPr lang="en-US" sz="1550" dirty="0">
              <a:solidFill>
                <a:srgbClr val="666666"/>
              </a:solidFill>
              <a:latin typeface="IBM Plex Sans" pitchFamily="34" charset="0"/>
            </a:endParaRPr>
          </a:p>
        </p:txBody>
      </p:sp>
      <p:pic>
        <p:nvPicPr>
          <p:cNvPr id="30" name="Picture 29">
            <a:extLst>
              <a:ext uri="{FF2B5EF4-FFF2-40B4-BE49-F238E27FC236}">
                <a16:creationId xmlns:a16="http://schemas.microsoft.com/office/drawing/2014/main" id="{66DEF174-473A-0E89-1648-8B60D801A9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937439"/>
            <a:ext cx="5975420" cy="5414200"/>
          </a:xfrm>
          <a:prstGeom prst="rect">
            <a:avLst/>
          </a:prstGeom>
        </p:spPr>
      </p:pic>
    </p:spTree>
    <p:extLst>
      <p:ext uri="{BB962C8B-B14F-4D97-AF65-F5344CB8AC3E}">
        <p14:creationId xmlns:p14="http://schemas.microsoft.com/office/powerpoint/2010/main" val="19485354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100000">
              <a:srgbClr val="CCECFF"/>
            </a:gs>
            <a:gs pos="18000">
              <a:srgbClr val="FFCCFF"/>
            </a:gs>
          </a:gsLst>
          <a:lin ang="5400000" scaled="1"/>
        </a:gradFill>
        <a:effectLst/>
      </p:bgPr>
    </p:bg>
    <p:spTree>
      <p:nvGrpSpPr>
        <p:cNvPr id="1" name="">
          <a:extLst>
            <a:ext uri="{FF2B5EF4-FFF2-40B4-BE49-F238E27FC236}">
              <a16:creationId xmlns:a16="http://schemas.microsoft.com/office/drawing/2014/main" id="{0F1901FC-B416-DA79-FC16-30C781D51FC8}"/>
            </a:ext>
          </a:extLst>
        </p:cNvPr>
        <p:cNvGrpSpPr/>
        <p:nvPr/>
      </p:nvGrpSpPr>
      <p:grpSpPr>
        <a:xfrm>
          <a:off x="0" y="0"/>
          <a:ext cx="0" cy="0"/>
          <a:chOff x="0" y="0"/>
          <a:chExt cx="0" cy="0"/>
        </a:xfrm>
      </p:grpSpPr>
      <p:pic>
        <p:nvPicPr>
          <p:cNvPr id="17" name="Image 0" descr="preencoded.png">
            <a:extLst>
              <a:ext uri="{FF2B5EF4-FFF2-40B4-BE49-F238E27FC236}">
                <a16:creationId xmlns:a16="http://schemas.microsoft.com/office/drawing/2014/main" id="{B6B5C21F-0927-177C-C672-84176926EB5C}"/>
              </a:ext>
            </a:extLst>
          </p:cNvPr>
          <p:cNvPicPr>
            <a:picLocks noChangeAspect="1"/>
          </p:cNvPicPr>
          <p:nvPr/>
        </p:nvPicPr>
        <p:blipFill>
          <a:blip r:embed="rId2"/>
          <a:stretch>
            <a:fillRect/>
          </a:stretch>
        </p:blipFill>
        <p:spPr>
          <a:xfrm>
            <a:off x="7212745" y="0"/>
            <a:ext cx="5021701" cy="6857999"/>
          </a:xfrm>
          <a:prstGeom prst="rect">
            <a:avLst/>
          </a:prstGeom>
        </p:spPr>
      </p:pic>
      <p:sp>
        <p:nvSpPr>
          <p:cNvPr id="2" name="Text 0">
            <a:extLst>
              <a:ext uri="{FF2B5EF4-FFF2-40B4-BE49-F238E27FC236}">
                <a16:creationId xmlns:a16="http://schemas.microsoft.com/office/drawing/2014/main" id="{F238F4CC-154F-DD7D-8BA9-976FEF8B8237}"/>
              </a:ext>
            </a:extLst>
          </p:cNvPr>
          <p:cNvSpPr/>
          <p:nvPr/>
        </p:nvSpPr>
        <p:spPr>
          <a:xfrm>
            <a:off x="769025" y="631746"/>
            <a:ext cx="4834533" cy="600789"/>
          </a:xfrm>
          <a:prstGeom prst="rect">
            <a:avLst/>
          </a:prstGeom>
          <a:noFill/>
          <a:ln/>
        </p:spPr>
        <p:txBody>
          <a:bodyPr wrap="none" lIns="0" tIns="0" rIns="0" bIns="0" rtlCol="0" anchor="t"/>
          <a:lstStyle/>
          <a:p>
            <a:pPr marL="0" indent="0" algn="l">
              <a:lnSpc>
                <a:spcPts val="4700"/>
              </a:lnSpc>
              <a:buNone/>
            </a:pPr>
            <a:r>
              <a:rPr lang="en-US" sz="3750" dirty="0">
                <a:solidFill>
                  <a:srgbClr val="3F6FF3"/>
                </a:solidFill>
                <a:latin typeface="Outfit Medium" pitchFamily="34" charset="0"/>
                <a:ea typeface="Outfit Medium" pitchFamily="34" charset="-122"/>
                <a:cs typeface="Outfit Medium" pitchFamily="34" charset="-120"/>
              </a:rPr>
              <a:t>Camera Specifications</a:t>
            </a:r>
            <a:endParaRPr lang="en-US" sz="3750" dirty="0"/>
          </a:p>
        </p:txBody>
      </p:sp>
      <p:sp>
        <p:nvSpPr>
          <p:cNvPr id="11" name="Text 1">
            <a:extLst>
              <a:ext uri="{FF2B5EF4-FFF2-40B4-BE49-F238E27FC236}">
                <a16:creationId xmlns:a16="http://schemas.microsoft.com/office/drawing/2014/main" id="{37C924DA-0BB0-CF9E-09C9-D82D5B37CF71}"/>
              </a:ext>
            </a:extLst>
          </p:cNvPr>
          <p:cNvSpPr/>
          <p:nvPr/>
        </p:nvSpPr>
        <p:spPr>
          <a:xfrm>
            <a:off x="769025" y="1441965"/>
            <a:ext cx="2403396" cy="300395"/>
          </a:xfrm>
          <a:prstGeom prst="rect">
            <a:avLst/>
          </a:prstGeom>
          <a:noFill/>
          <a:ln/>
        </p:spPr>
        <p:txBody>
          <a:bodyPr wrap="none" lIns="0" tIns="0" rIns="0" bIns="0" rtlCol="0" anchor="t"/>
          <a:lstStyle/>
          <a:p>
            <a:pPr marL="0" indent="0" algn="l">
              <a:lnSpc>
                <a:spcPts val="2350"/>
              </a:lnSpc>
              <a:buNone/>
            </a:pPr>
            <a:r>
              <a:rPr lang="en-US" sz="1850" dirty="0">
                <a:solidFill>
                  <a:srgbClr val="666666"/>
                </a:solidFill>
                <a:latin typeface="Outfit Medium" pitchFamily="34" charset="0"/>
                <a:ea typeface="Outfit Medium" pitchFamily="34" charset="-122"/>
                <a:cs typeface="Outfit Medium" pitchFamily="34" charset="-120"/>
              </a:rPr>
              <a:t>Rear Camera</a:t>
            </a:r>
            <a:endParaRPr lang="en-US" sz="1850" dirty="0"/>
          </a:p>
        </p:txBody>
      </p:sp>
      <p:sp>
        <p:nvSpPr>
          <p:cNvPr id="12" name="Text 2">
            <a:extLst>
              <a:ext uri="{FF2B5EF4-FFF2-40B4-BE49-F238E27FC236}">
                <a16:creationId xmlns:a16="http://schemas.microsoft.com/office/drawing/2014/main" id="{1A9ED475-81A0-09AF-0FF4-4CE3C607E07F}"/>
              </a:ext>
            </a:extLst>
          </p:cNvPr>
          <p:cNvSpPr/>
          <p:nvPr/>
        </p:nvSpPr>
        <p:spPr>
          <a:xfrm>
            <a:off x="769025" y="1854041"/>
            <a:ext cx="6429732" cy="605552"/>
          </a:xfrm>
          <a:prstGeom prst="rect">
            <a:avLst/>
          </a:prstGeom>
          <a:noFill/>
          <a:ln/>
        </p:spPr>
        <p:txBody>
          <a:bodyPr wrap="square" lIns="0" tIns="0" rIns="0" bIns="0" rtlCol="0" anchor="t"/>
          <a:lstStyle/>
          <a:p>
            <a:pPr marL="0" indent="0" algn="l">
              <a:lnSpc>
                <a:spcPts val="2350"/>
              </a:lnSpc>
              <a:buNone/>
            </a:pPr>
            <a:r>
              <a:rPr lang="en-US" sz="1500" dirty="0">
                <a:solidFill>
                  <a:srgbClr val="666666"/>
                </a:solidFill>
                <a:latin typeface="IBM Plex Sans" pitchFamily="34" charset="0"/>
                <a:ea typeface="IBM Plex Sans" pitchFamily="34" charset="-122"/>
                <a:cs typeface="IBM Plex Sans" pitchFamily="34" charset="-120"/>
              </a:rPr>
              <a:t>Mean 46.11 MP with median 50 MP. Strong concentration at 50 MP (260 devices). Values range 0-200 MP with positive skewness 1.80.</a:t>
            </a:r>
            <a:endParaRPr lang="en-US" sz="1500" dirty="0"/>
          </a:p>
        </p:txBody>
      </p:sp>
      <p:sp>
        <p:nvSpPr>
          <p:cNvPr id="14" name="Text 3">
            <a:extLst>
              <a:ext uri="{FF2B5EF4-FFF2-40B4-BE49-F238E27FC236}">
                <a16:creationId xmlns:a16="http://schemas.microsoft.com/office/drawing/2014/main" id="{4BFDE868-007B-FE50-7284-3AE8D2B7B4EC}"/>
              </a:ext>
            </a:extLst>
          </p:cNvPr>
          <p:cNvSpPr/>
          <p:nvPr/>
        </p:nvSpPr>
        <p:spPr>
          <a:xfrm>
            <a:off x="782895" y="3026208"/>
            <a:ext cx="2403396" cy="300395"/>
          </a:xfrm>
          <a:prstGeom prst="rect">
            <a:avLst/>
          </a:prstGeom>
          <a:noFill/>
          <a:ln/>
        </p:spPr>
        <p:txBody>
          <a:bodyPr wrap="none" lIns="0" tIns="0" rIns="0" bIns="0" rtlCol="0" anchor="t"/>
          <a:lstStyle/>
          <a:p>
            <a:pPr marL="0" indent="0" algn="l">
              <a:lnSpc>
                <a:spcPts val="2350"/>
              </a:lnSpc>
              <a:buNone/>
            </a:pPr>
            <a:r>
              <a:rPr lang="en-US" sz="1850" dirty="0">
                <a:solidFill>
                  <a:srgbClr val="666666"/>
                </a:solidFill>
                <a:latin typeface="Outfit Medium" pitchFamily="34" charset="0"/>
                <a:ea typeface="Outfit Medium" pitchFamily="34" charset="-122"/>
                <a:cs typeface="Outfit Medium" pitchFamily="34" charset="-120"/>
              </a:rPr>
              <a:t>Front Camera</a:t>
            </a:r>
            <a:endParaRPr lang="en-US" sz="1850" dirty="0"/>
          </a:p>
        </p:txBody>
      </p:sp>
      <p:sp>
        <p:nvSpPr>
          <p:cNvPr id="15" name="Text 4">
            <a:extLst>
              <a:ext uri="{FF2B5EF4-FFF2-40B4-BE49-F238E27FC236}">
                <a16:creationId xmlns:a16="http://schemas.microsoft.com/office/drawing/2014/main" id="{DC2DC882-C9EE-01ED-56E9-06A1A8BC2D11}"/>
              </a:ext>
            </a:extLst>
          </p:cNvPr>
          <p:cNvSpPr/>
          <p:nvPr/>
        </p:nvSpPr>
        <p:spPr>
          <a:xfrm>
            <a:off x="768906" y="3328985"/>
            <a:ext cx="6429851" cy="605552"/>
          </a:xfrm>
          <a:prstGeom prst="rect">
            <a:avLst/>
          </a:prstGeom>
          <a:noFill/>
          <a:ln/>
        </p:spPr>
        <p:txBody>
          <a:bodyPr wrap="square" lIns="0" tIns="0" rIns="0" bIns="0" rtlCol="0" anchor="t"/>
          <a:lstStyle/>
          <a:p>
            <a:pPr marL="0" indent="0" algn="l">
              <a:lnSpc>
                <a:spcPts val="2350"/>
              </a:lnSpc>
              <a:buNone/>
            </a:pPr>
            <a:r>
              <a:rPr lang="en-US" sz="1500" dirty="0">
                <a:solidFill>
                  <a:srgbClr val="666666"/>
                </a:solidFill>
                <a:latin typeface="IBM Plex Sans" pitchFamily="34" charset="0"/>
                <a:ea typeface="IBM Plex Sans" pitchFamily="34" charset="-122"/>
                <a:cs typeface="IBM Plex Sans" pitchFamily="34" charset="-120"/>
              </a:rPr>
              <a:t>Mean and median show mainstream cluster at 16 MP. Higher resolutions (&gt;32 MP) appear in premium devices as niche strategy.</a:t>
            </a:r>
            <a:endParaRPr lang="en-US" sz="1500" dirty="0"/>
          </a:p>
        </p:txBody>
      </p:sp>
      <p:sp>
        <p:nvSpPr>
          <p:cNvPr id="16" name="Text 5">
            <a:extLst>
              <a:ext uri="{FF2B5EF4-FFF2-40B4-BE49-F238E27FC236}">
                <a16:creationId xmlns:a16="http://schemas.microsoft.com/office/drawing/2014/main" id="{C9C178CD-7FF0-717B-66B0-A67B300B1440}"/>
              </a:ext>
            </a:extLst>
          </p:cNvPr>
          <p:cNvSpPr/>
          <p:nvPr/>
        </p:nvSpPr>
        <p:spPr>
          <a:xfrm>
            <a:off x="768906" y="4322451"/>
            <a:ext cx="6443839" cy="2186929"/>
          </a:xfrm>
          <a:prstGeom prst="rect">
            <a:avLst/>
          </a:prstGeom>
          <a:noFill/>
          <a:ln/>
        </p:spPr>
        <p:txBody>
          <a:bodyPr wrap="square" lIns="0" tIns="0" rIns="0" bIns="0" rtlCol="0" anchor="t"/>
          <a:lstStyle/>
          <a:p>
            <a:pPr marL="0" indent="0" algn="l">
              <a:lnSpc>
                <a:spcPts val="2350"/>
              </a:lnSpc>
              <a:buNone/>
            </a:pPr>
            <a:r>
              <a:rPr lang="en-US" sz="1500" dirty="0">
                <a:solidFill>
                  <a:srgbClr val="666666"/>
                </a:solidFill>
                <a:latin typeface="IBM Plex Sans" pitchFamily="34" charset="0"/>
                <a:ea typeface="IBM Plex Sans" pitchFamily="34" charset="-122"/>
                <a:cs typeface="IBM Plex Sans" pitchFamily="34" charset="-120"/>
              </a:rPr>
              <a:t>Camera analysis reveals 50 MP as most common rear camera configuration with 260 devices. Ultra-high resolutions (108-200 MP) represent premium differentiation. Front camera shows weaker correlation with memory, suggesting selfie cameras capped at mid-range resolutions across devices.</a:t>
            </a:r>
            <a:endParaRPr lang="en-US" sz="1500" dirty="0"/>
          </a:p>
        </p:txBody>
      </p:sp>
    </p:spTree>
    <p:extLst>
      <p:ext uri="{BB962C8B-B14F-4D97-AF65-F5344CB8AC3E}">
        <p14:creationId xmlns:p14="http://schemas.microsoft.com/office/powerpoint/2010/main" val="30105210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100000">
              <a:srgbClr val="CCECFF"/>
            </a:gs>
            <a:gs pos="18000">
              <a:srgbClr val="FFCCFF"/>
            </a:gs>
          </a:gsLst>
          <a:lin ang="5400000" scaled="1"/>
        </a:gradFill>
        <a:effectLst/>
      </p:bgPr>
    </p:bg>
    <p:spTree>
      <p:nvGrpSpPr>
        <p:cNvPr id="1" name="">
          <a:extLst>
            <a:ext uri="{FF2B5EF4-FFF2-40B4-BE49-F238E27FC236}">
              <a16:creationId xmlns:a16="http://schemas.microsoft.com/office/drawing/2014/main" id="{E26C3921-2FDD-549B-E53C-EEF9BC2F4DF5}"/>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D0BD7C09-20C1-0D78-A06F-3C60D1D3E38E}"/>
              </a:ext>
            </a:extLst>
          </p:cNvPr>
          <p:cNvSpPr/>
          <p:nvPr/>
        </p:nvSpPr>
        <p:spPr>
          <a:xfrm>
            <a:off x="2294215" y="111466"/>
            <a:ext cx="7603569" cy="591145"/>
          </a:xfrm>
          <a:prstGeom prst="rect">
            <a:avLst/>
          </a:prstGeom>
          <a:noFill/>
          <a:ln/>
        </p:spPr>
        <p:txBody>
          <a:bodyPr wrap="none" lIns="0" tIns="0" rIns="0" bIns="0" rtlCol="0" anchor="t"/>
          <a:lstStyle/>
          <a:p>
            <a:pPr marL="0" indent="0" algn="l">
              <a:lnSpc>
                <a:spcPts val="4650"/>
              </a:lnSpc>
              <a:buNone/>
            </a:pPr>
            <a:r>
              <a:rPr lang="en-US" sz="3700" dirty="0">
                <a:solidFill>
                  <a:srgbClr val="3F6FF3"/>
                </a:solidFill>
                <a:latin typeface="Outfit Medium" pitchFamily="34" charset="0"/>
                <a:ea typeface="Outfit Medium" pitchFamily="34" charset="-122"/>
                <a:cs typeface="Outfit Medium" pitchFamily="34" charset="-120"/>
              </a:rPr>
              <a:t>Price Distribution and Segmentation</a:t>
            </a:r>
            <a:endParaRPr lang="en-US" sz="3700" dirty="0"/>
          </a:p>
        </p:txBody>
      </p:sp>
      <p:sp>
        <p:nvSpPr>
          <p:cNvPr id="5" name="Shape 1">
            <a:extLst>
              <a:ext uri="{FF2B5EF4-FFF2-40B4-BE49-F238E27FC236}">
                <a16:creationId xmlns:a16="http://schemas.microsoft.com/office/drawing/2014/main" id="{AB6C491B-8013-A4A1-B48A-7357CED89064}"/>
              </a:ext>
            </a:extLst>
          </p:cNvPr>
          <p:cNvSpPr/>
          <p:nvPr/>
        </p:nvSpPr>
        <p:spPr>
          <a:xfrm>
            <a:off x="6679401" y="1070629"/>
            <a:ext cx="5410976" cy="1092518"/>
          </a:xfrm>
          <a:prstGeom prst="roundRect">
            <a:avLst>
              <a:gd name="adj" fmla="val 15584"/>
            </a:avLst>
          </a:prstGeom>
          <a:solidFill>
            <a:srgbClr val="CFDBFC"/>
          </a:solidFill>
          <a:ln w="7620">
            <a:solidFill>
              <a:srgbClr val="B5C1E2"/>
            </a:solidFill>
            <a:prstDash val="solid"/>
          </a:ln>
          <a:effectLst>
            <a:outerShdw dist="24130" dir="2700000" algn="bl" rotWithShape="0">
              <a:srgbClr val="B5C1E2">
                <a:alpha val="100000"/>
              </a:srgbClr>
            </a:outerShdw>
          </a:effectLst>
        </p:spPr>
      </p:sp>
      <p:sp>
        <p:nvSpPr>
          <p:cNvPr id="6" name="Text 2">
            <a:extLst>
              <a:ext uri="{FF2B5EF4-FFF2-40B4-BE49-F238E27FC236}">
                <a16:creationId xmlns:a16="http://schemas.microsoft.com/office/drawing/2014/main" id="{4217EA06-237A-B977-D53A-848137F2633B}"/>
              </a:ext>
            </a:extLst>
          </p:cNvPr>
          <p:cNvSpPr/>
          <p:nvPr/>
        </p:nvSpPr>
        <p:spPr>
          <a:xfrm>
            <a:off x="6876092" y="1267320"/>
            <a:ext cx="2364581" cy="295513"/>
          </a:xfrm>
          <a:prstGeom prst="rect">
            <a:avLst/>
          </a:prstGeom>
          <a:noFill/>
          <a:ln/>
        </p:spPr>
        <p:txBody>
          <a:bodyPr wrap="none" lIns="0" tIns="0" rIns="0" bIns="0" rtlCol="0" anchor="t"/>
          <a:lstStyle/>
          <a:p>
            <a:pPr marL="0" indent="0" algn="l">
              <a:lnSpc>
                <a:spcPts val="2300"/>
              </a:lnSpc>
              <a:buNone/>
            </a:pPr>
            <a:r>
              <a:rPr lang="en-US" sz="1850" dirty="0">
                <a:solidFill>
                  <a:srgbClr val="000000"/>
                </a:solidFill>
                <a:latin typeface="Outfit Medium" pitchFamily="34" charset="0"/>
                <a:ea typeface="Outfit Medium" pitchFamily="34" charset="-122"/>
                <a:cs typeface="Outfit Medium" pitchFamily="34" charset="-120"/>
              </a:rPr>
              <a:t>Budget</a:t>
            </a:r>
            <a:endParaRPr lang="en-US" sz="1850" dirty="0"/>
          </a:p>
        </p:txBody>
      </p:sp>
      <p:sp>
        <p:nvSpPr>
          <p:cNvPr id="7" name="Text 3">
            <a:extLst>
              <a:ext uri="{FF2B5EF4-FFF2-40B4-BE49-F238E27FC236}">
                <a16:creationId xmlns:a16="http://schemas.microsoft.com/office/drawing/2014/main" id="{14F0CF9E-C116-224D-0E79-9F24B83BF049}"/>
              </a:ext>
            </a:extLst>
          </p:cNvPr>
          <p:cNvSpPr/>
          <p:nvPr/>
        </p:nvSpPr>
        <p:spPr>
          <a:xfrm>
            <a:off x="6876093" y="1516208"/>
            <a:ext cx="3654256" cy="423576"/>
          </a:xfrm>
          <a:prstGeom prst="rect">
            <a:avLst/>
          </a:prstGeom>
          <a:noFill/>
          <a:ln/>
        </p:spPr>
        <p:txBody>
          <a:bodyPr wrap="none" lIns="0" tIns="0" rIns="0" bIns="0" rtlCol="0" anchor="t"/>
          <a:lstStyle/>
          <a:p>
            <a:pPr marL="0" indent="0" algn="l">
              <a:lnSpc>
                <a:spcPts val="2300"/>
              </a:lnSpc>
              <a:buNone/>
            </a:pPr>
            <a:r>
              <a:rPr lang="en-US" sz="1450" dirty="0">
                <a:solidFill>
                  <a:srgbClr val="000000"/>
                </a:solidFill>
                <a:latin typeface="IBM Plex Sans" pitchFamily="34" charset="0"/>
                <a:ea typeface="IBM Plex Sans" pitchFamily="34" charset="-122"/>
                <a:cs typeface="IBM Plex Sans" pitchFamily="34" charset="-120"/>
              </a:rPr>
              <a:t>179 devices under ₹10,000</a:t>
            </a:r>
            <a:endParaRPr lang="en-US" sz="1450" dirty="0"/>
          </a:p>
        </p:txBody>
      </p:sp>
      <p:sp>
        <p:nvSpPr>
          <p:cNvPr id="8" name="Shape 4">
            <a:extLst>
              <a:ext uri="{FF2B5EF4-FFF2-40B4-BE49-F238E27FC236}">
                <a16:creationId xmlns:a16="http://schemas.microsoft.com/office/drawing/2014/main" id="{9967B8C7-728F-4C9D-BAE9-9099F141FDF4}"/>
              </a:ext>
            </a:extLst>
          </p:cNvPr>
          <p:cNvSpPr/>
          <p:nvPr/>
        </p:nvSpPr>
        <p:spPr>
          <a:xfrm>
            <a:off x="6679401" y="2343407"/>
            <a:ext cx="5410976" cy="1092518"/>
          </a:xfrm>
          <a:prstGeom prst="roundRect">
            <a:avLst>
              <a:gd name="adj" fmla="val 15584"/>
            </a:avLst>
          </a:prstGeom>
          <a:solidFill>
            <a:srgbClr val="CFDBFC"/>
          </a:solidFill>
          <a:ln w="7620">
            <a:solidFill>
              <a:srgbClr val="B5C1E2"/>
            </a:solidFill>
            <a:prstDash val="solid"/>
          </a:ln>
          <a:effectLst>
            <a:outerShdw dist="24130" dir="2700000" algn="bl" rotWithShape="0">
              <a:srgbClr val="B5C1E2">
                <a:alpha val="100000"/>
              </a:srgbClr>
            </a:outerShdw>
          </a:effectLst>
        </p:spPr>
      </p:sp>
      <p:sp>
        <p:nvSpPr>
          <p:cNvPr id="9" name="Text 5">
            <a:extLst>
              <a:ext uri="{FF2B5EF4-FFF2-40B4-BE49-F238E27FC236}">
                <a16:creationId xmlns:a16="http://schemas.microsoft.com/office/drawing/2014/main" id="{F024A4AB-70D4-BF41-259A-79A35BE8B0A3}"/>
              </a:ext>
            </a:extLst>
          </p:cNvPr>
          <p:cNvSpPr/>
          <p:nvPr/>
        </p:nvSpPr>
        <p:spPr>
          <a:xfrm>
            <a:off x="6876092" y="2540098"/>
            <a:ext cx="2364581" cy="295513"/>
          </a:xfrm>
          <a:prstGeom prst="rect">
            <a:avLst/>
          </a:prstGeom>
          <a:noFill/>
          <a:ln/>
        </p:spPr>
        <p:txBody>
          <a:bodyPr wrap="none" lIns="0" tIns="0" rIns="0" bIns="0" rtlCol="0" anchor="t"/>
          <a:lstStyle/>
          <a:p>
            <a:pPr marL="0" indent="0" algn="l">
              <a:lnSpc>
                <a:spcPts val="2300"/>
              </a:lnSpc>
              <a:buNone/>
            </a:pPr>
            <a:r>
              <a:rPr lang="en-US" sz="1850" dirty="0">
                <a:solidFill>
                  <a:srgbClr val="000000"/>
                </a:solidFill>
                <a:latin typeface="Outfit Medium" pitchFamily="34" charset="0"/>
                <a:ea typeface="Outfit Medium" pitchFamily="34" charset="-122"/>
                <a:cs typeface="Outfit Medium" pitchFamily="34" charset="-120"/>
              </a:rPr>
              <a:t>Mid-Range</a:t>
            </a:r>
            <a:endParaRPr lang="en-US" sz="1850" dirty="0"/>
          </a:p>
        </p:txBody>
      </p:sp>
      <p:sp>
        <p:nvSpPr>
          <p:cNvPr id="10" name="Text 6">
            <a:extLst>
              <a:ext uri="{FF2B5EF4-FFF2-40B4-BE49-F238E27FC236}">
                <a16:creationId xmlns:a16="http://schemas.microsoft.com/office/drawing/2014/main" id="{360E0693-D99E-53D0-E96A-CA94E2E4F3C0}"/>
              </a:ext>
            </a:extLst>
          </p:cNvPr>
          <p:cNvSpPr/>
          <p:nvPr/>
        </p:nvSpPr>
        <p:spPr>
          <a:xfrm>
            <a:off x="6876093" y="2788986"/>
            <a:ext cx="3654256" cy="423576"/>
          </a:xfrm>
          <a:prstGeom prst="rect">
            <a:avLst/>
          </a:prstGeom>
          <a:noFill/>
          <a:ln/>
        </p:spPr>
        <p:txBody>
          <a:bodyPr wrap="none" lIns="0" tIns="0" rIns="0" bIns="0" rtlCol="0" anchor="t"/>
          <a:lstStyle/>
          <a:p>
            <a:pPr marL="0" indent="0" algn="l">
              <a:lnSpc>
                <a:spcPts val="2300"/>
              </a:lnSpc>
              <a:buNone/>
            </a:pPr>
            <a:r>
              <a:rPr lang="en-US" sz="1450" dirty="0">
                <a:solidFill>
                  <a:srgbClr val="000000"/>
                </a:solidFill>
                <a:latin typeface="IBM Plex Sans" pitchFamily="34" charset="0"/>
                <a:ea typeface="IBM Plex Sans" pitchFamily="34" charset="-122"/>
                <a:cs typeface="IBM Plex Sans" pitchFamily="34" charset="-120"/>
              </a:rPr>
              <a:t>238 devices ₹10,000-₹20,000</a:t>
            </a:r>
            <a:endParaRPr lang="en-US" sz="1450" dirty="0"/>
          </a:p>
        </p:txBody>
      </p:sp>
      <p:sp>
        <p:nvSpPr>
          <p:cNvPr id="13" name="Shape 7">
            <a:extLst>
              <a:ext uri="{FF2B5EF4-FFF2-40B4-BE49-F238E27FC236}">
                <a16:creationId xmlns:a16="http://schemas.microsoft.com/office/drawing/2014/main" id="{2DA2C1B7-23C0-6DBE-9E11-8FA31C3209B3}"/>
              </a:ext>
            </a:extLst>
          </p:cNvPr>
          <p:cNvSpPr/>
          <p:nvPr/>
        </p:nvSpPr>
        <p:spPr>
          <a:xfrm>
            <a:off x="6679401" y="3616185"/>
            <a:ext cx="5410976" cy="1092518"/>
          </a:xfrm>
          <a:prstGeom prst="roundRect">
            <a:avLst>
              <a:gd name="adj" fmla="val 15584"/>
            </a:avLst>
          </a:prstGeom>
          <a:solidFill>
            <a:srgbClr val="CFDBFC"/>
          </a:solidFill>
          <a:ln w="7620">
            <a:solidFill>
              <a:srgbClr val="B5C1E2"/>
            </a:solidFill>
            <a:prstDash val="solid"/>
          </a:ln>
          <a:effectLst>
            <a:outerShdw dist="24130" dir="2700000" algn="bl" rotWithShape="0">
              <a:srgbClr val="B5C1E2">
                <a:alpha val="100000"/>
              </a:srgbClr>
            </a:outerShdw>
          </a:effectLst>
        </p:spPr>
      </p:sp>
      <p:sp>
        <p:nvSpPr>
          <p:cNvPr id="18" name="Text 8">
            <a:extLst>
              <a:ext uri="{FF2B5EF4-FFF2-40B4-BE49-F238E27FC236}">
                <a16:creationId xmlns:a16="http://schemas.microsoft.com/office/drawing/2014/main" id="{AD83CB5A-453D-3CAE-79FA-421B1A6C5FF7}"/>
              </a:ext>
            </a:extLst>
          </p:cNvPr>
          <p:cNvSpPr/>
          <p:nvPr/>
        </p:nvSpPr>
        <p:spPr>
          <a:xfrm>
            <a:off x="6876092" y="3812876"/>
            <a:ext cx="2364581" cy="295513"/>
          </a:xfrm>
          <a:prstGeom prst="rect">
            <a:avLst/>
          </a:prstGeom>
          <a:noFill/>
          <a:ln/>
        </p:spPr>
        <p:txBody>
          <a:bodyPr wrap="none" lIns="0" tIns="0" rIns="0" bIns="0" rtlCol="0" anchor="t"/>
          <a:lstStyle/>
          <a:p>
            <a:pPr marL="0" indent="0" algn="l">
              <a:lnSpc>
                <a:spcPts val="2300"/>
              </a:lnSpc>
              <a:buNone/>
            </a:pPr>
            <a:r>
              <a:rPr lang="en-US" sz="1850" dirty="0">
                <a:solidFill>
                  <a:srgbClr val="000000"/>
                </a:solidFill>
                <a:latin typeface="Outfit Medium" pitchFamily="34" charset="0"/>
                <a:ea typeface="Outfit Medium" pitchFamily="34" charset="-122"/>
                <a:cs typeface="Outfit Medium" pitchFamily="34" charset="-120"/>
              </a:rPr>
              <a:t>Upper Mid-Range</a:t>
            </a:r>
            <a:endParaRPr lang="en-US" sz="1850" dirty="0"/>
          </a:p>
        </p:txBody>
      </p:sp>
      <p:sp>
        <p:nvSpPr>
          <p:cNvPr id="19" name="Text 9">
            <a:extLst>
              <a:ext uri="{FF2B5EF4-FFF2-40B4-BE49-F238E27FC236}">
                <a16:creationId xmlns:a16="http://schemas.microsoft.com/office/drawing/2014/main" id="{C0CEB730-41C9-D315-44C6-9450866BCC09}"/>
              </a:ext>
            </a:extLst>
          </p:cNvPr>
          <p:cNvSpPr/>
          <p:nvPr/>
        </p:nvSpPr>
        <p:spPr>
          <a:xfrm>
            <a:off x="6876093" y="4061764"/>
            <a:ext cx="3654256" cy="423576"/>
          </a:xfrm>
          <a:prstGeom prst="rect">
            <a:avLst/>
          </a:prstGeom>
          <a:noFill/>
          <a:ln/>
        </p:spPr>
        <p:txBody>
          <a:bodyPr wrap="none" lIns="0" tIns="0" rIns="0" bIns="0" rtlCol="0" anchor="t"/>
          <a:lstStyle/>
          <a:p>
            <a:pPr marL="0" indent="0" algn="l">
              <a:lnSpc>
                <a:spcPts val="2300"/>
              </a:lnSpc>
              <a:buNone/>
            </a:pPr>
            <a:r>
              <a:rPr lang="en-US" sz="1450" dirty="0">
                <a:solidFill>
                  <a:srgbClr val="000000"/>
                </a:solidFill>
                <a:latin typeface="IBM Plex Sans" pitchFamily="34" charset="0"/>
                <a:ea typeface="IBM Plex Sans" pitchFamily="34" charset="-122"/>
                <a:cs typeface="IBM Plex Sans" pitchFamily="34" charset="-120"/>
              </a:rPr>
              <a:t>102 devices ₹20,000-₹35,000</a:t>
            </a:r>
            <a:endParaRPr lang="en-US" sz="1450" dirty="0"/>
          </a:p>
        </p:txBody>
      </p:sp>
      <p:sp>
        <p:nvSpPr>
          <p:cNvPr id="20" name="Shape 10">
            <a:extLst>
              <a:ext uri="{FF2B5EF4-FFF2-40B4-BE49-F238E27FC236}">
                <a16:creationId xmlns:a16="http://schemas.microsoft.com/office/drawing/2014/main" id="{D80788E9-523A-36F1-FAE1-9F3B4AFE1CBB}"/>
              </a:ext>
            </a:extLst>
          </p:cNvPr>
          <p:cNvSpPr/>
          <p:nvPr/>
        </p:nvSpPr>
        <p:spPr>
          <a:xfrm>
            <a:off x="6679401" y="4888963"/>
            <a:ext cx="5410976" cy="1092518"/>
          </a:xfrm>
          <a:prstGeom prst="roundRect">
            <a:avLst>
              <a:gd name="adj" fmla="val 15584"/>
            </a:avLst>
          </a:prstGeom>
          <a:solidFill>
            <a:srgbClr val="CFDBFC"/>
          </a:solidFill>
          <a:ln w="7620">
            <a:solidFill>
              <a:srgbClr val="B5C1E2"/>
            </a:solidFill>
            <a:prstDash val="solid"/>
          </a:ln>
          <a:effectLst>
            <a:outerShdw dist="24130" dir="2700000" algn="bl" rotWithShape="0">
              <a:srgbClr val="B5C1E2">
                <a:alpha val="100000"/>
              </a:srgbClr>
            </a:outerShdw>
          </a:effectLst>
        </p:spPr>
      </p:sp>
      <p:sp>
        <p:nvSpPr>
          <p:cNvPr id="21" name="Text 11">
            <a:extLst>
              <a:ext uri="{FF2B5EF4-FFF2-40B4-BE49-F238E27FC236}">
                <a16:creationId xmlns:a16="http://schemas.microsoft.com/office/drawing/2014/main" id="{8FBBF651-7B99-D4D9-F741-2928BDA3ECD9}"/>
              </a:ext>
            </a:extLst>
          </p:cNvPr>
          <p:cNvSpPr/>
          <p:nvPr/>
        </p:nvSpPr>
        <p:spPr>
          <a:xfrm>
            <a:off x="6876092" y="5085654"/>
            <a:ext cx="2364581" cy="295513"/>
          </a:xfrm>
          <a:prstGeom prst="rect">
            <a:avLst/>
          </a:prstGeom>
          <a:noFill/>
          <a:ln/>
        </p:spPr>
        <p:txBody>
          <a:bodyPr wrap="none" lIns="0" tIns="0" rIns="0" bIns="0" rtlCol="0" anchor="t"/>
          <a:lstStyle/>
          <a:p>
            <a:pPr marL="0" indent="0" algn="l">
              <a:lnSpc>
                <a:spcPts val="2300"/>
              </a:lnSpc>
              <a:buNone/>
            </a:pPr>
            <a:r>
              <a:rPr lang="en-US" sz="1850" dirty="0">
                <a:solidFill>
                  <a:srgbClr val="000000"/>
                </a:solidFill>
                <a:latin typeface="Outfit Medium" pitchFamily="34" charset="0"/>
                <a:ea typeface="Outfit Medium" pitchFamily="34" charset="-122"/>
                <a:cs typeface="Outfit Medium" pitchFamily="34" charset="-120"/>
              </a:rPr>
              <a:t>Premium</a:t>
            </a:r>
            <a:endParaRPr lang="en-US" sz="1850" dirty="0"/>
          </a:p>
        </p:txBody>
      </p:sp>
      <p:sp>
        <p:nvSpPr>
          <p:cNvPr id="22" name="Text 12">
            <a:extLst>
              <a:ext uri="{FF2B5EF4-FFF2-40B4-BE49-F238E27FC236}">
                <a16:creationId xmlns:a16="http://schemas.microsoft.com/office/drawing/2014/main" id="{93ED0815-1213-40E2-2D1B-9DAC1DA5B027}"/>
              </a:ext>
            </a:extLst>
          </p:cNvPr>
          <p:cNvSpPr/>
          <p:nvPr/>
        </p:nvSpPr>
        <p:spPr>
          <a:xfrm>
            <a:off x="6876093" y="5334542"/>
            <a:ext cx="3654256" cy="423576"/>
          </a:xfrm>
          <a:prstGeom prst="rect">
            <a:avLst/>
          </a:prstGeom>
          <a:noFill/>
          <a:ln/>
        </p:spPr>
        <p:txBody>
          <a:bodyPr wrap="none" lIns="0" tIns="0" rIns="0" bIns="0" rtlCol="0" anchor="t"/>
          <a:lstStyle/>
          <a:p>
            <a:pPr marL="0" indent="0" algn="l">
              <a:lnSpc>
                <a:spcPts val="2300"/>
              </a:lnSpc>
              <a:buNone/>
            </a:pPr>
            <a:r>
              <a:rPr lang="en-US" sz="1450" dirty="0">
                <a:solidFill>
                  <a:srgbClr val="000000"/>
                </a:solidFill>
                <a:latin typeface="IBM Plex Sans" pitchFamily="34" charset="0"/>
                <a:ea typeface="IBM Plex Sans" pitchFamily="34" charset="-122"/>
                <a:cs typeface="IBM Plex Sans" pitchFamily="34" charset="-120"/>
              </a:rPr>
              <a:t>22 devices above ₹35,000</a:t>
            </a:r>
            <a:endParaRPr lang="en-US" sz="1450" dirty="0"/>
          </a:p>
        </p:txBody>
      </p:sp>
      <p:pic>
        <p:nvPicPr>
          <p:cNvPr id="25" name="Picture 24">
            <a:extLst>
              <a:ext uri="{FF2B5EF4-FFF2-40B4-BE49-F238E27FC236}">
                <a16:creationId xmlns:a16="http://schemas.microsoft.com/office/drawing/2014/main" id="{F3F2FB15-FA17-06C0-54F8-6500A0887B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5303" y="963561"/>
            <a:ext cx="6115665" cy="5017920"/>
          </a:xfrm>
          <a:prstGeom prst="rect">
            <a:avLst/>
          </a:prstGeom>
        </p:spPr>
      </p:pic>
    </p:spTree>
    <p:extLst>
      <p:ext uri="{BB962C8B-B14F-4D97-AF65-F5344CB8AC3E}">
        <p14:creationId xmlns:p14="http://schemas.microsoft.com/office/powerpoint/2010/main" val="9279058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100000">
              <a:srgbClr val="CCECFF"/>
            </a:gs>
            <a:gs pos="18000">
              <a:srgbClr val="FFCCFF"/>
            </a:gs>
          </a:gsLst>
          <a:lin ang="5400000" scaled="1"/>
        </a:gradFill>
        <a:effectLst/>
      </p:bgPr>
    </p:bg>
    <p:spTree>
      <p:nvGrpSpPr>
        <p:cNvPr id="1" name="">
          <a:extLst>
            <a:ext uri="{FF2B5EF4-FFF2-40B4-BE49-F238E27FC236}">
              <a16:creationId xmlns:a16="http://schemas.microsoft.com/office/drawing/2014/main" id="{BB75E2FE-40C6-5CE3-0CB8-AE51C259B7F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058D0CA-2DEF-9507-8A63-568D6E90AC23}"/>
              </a:ext>
            </a:extLst>
          </p:cNvPr>
          <p:cNvSpPr/>
          <p:nvPr/>
        </p:nvSpPr>
        <p:spPr>
          <a:xfrm>
            <a:off x="3617269" y="33338"/>
            <a:ext cx="5245179" cy="620078"/>
          </a:xfrm>
          <a:prstGeom prst="rect">
            <a:avLst/>
          </a:prstGeom>
          <a:noFill/>
          <a:ln/>
        </p:spPr>
        <p:txBody>
          <a:bodyPr wrap="none" lIns="0" tIns="0" rIns="0" bIns="0" rtlCol="0" anchor="t"/>
          <a:lstStyle/>
          <a:p>
            <a:pPr marL="0" indent="0" algn="l">
              <a:lnSpc>
                <a:spcPts val="4850"/>
              </a:lnSpc>
              <a:buNone/>
            </a:pPr>
            <a:r>
              <a:rPr lang="en-US" sz="3900" dirty="0">
                <a:solidFill>
                  <a:srgbClr val="3F6FF3"/>
                </a:solidFill>
                <a:latin typeface="Outfit Medium" pitchFamily="34" charset="0"/>
                <a:ea typeface="Outfit Medium" pitchFamily="34" charset="-122"/>
                <a:cs typeface="Outfit Medium" pitchFamily="34" charset="-120"/>
              </a:rPr>
              <a:t>Key Correlation Insights</a:t>
            </a:r>
            <a:endParaRPr lang="en-US" sz="3900" dirty="0"/>
          </a:p>
        </p:txBody>
      </p:sp>
      <p:sp>
        <p:nvSpPr>
          <p:cNvPr id="3" name="Shape 1">
            <a:extLst>
              <a:ext uri="{FF2B5EF4-FFF2-40B4-BE49-F238E27FC236}">
                <a16:creationId xmlns:a16="http://schemas.microsoft.com/office/drawing/2014/main" id="{C500600A-9219-6647-3377-FC0E009ED6C7}"/>
              </a:ext>
            </a:extLst>
          </p:cNvPr>
          <p:cNvSpPr/>
          <p:nvPr/>
        </p:nvSpPr>
        <p:spPr>
          <a:xfrm>
            <a:off x="643065" y="892016"/>
            <a:ext cx="5452935" cy="1514356"/>
          </a:xfrm>
          <a:prstGeom prst="roundRect">
            <a:avLst>
              <a:gd name="adj" fmla="val 7246"/>
            </a:avLst>
          </a:prstGeom>
          <a:solidFill>
            <a:srgbClr val="FFFFFF">
              <a:alpha val="95000"/>
            </a:srgbClr>
          </a:solidFill>
          <a:ln w="22860">
            <a:solidFill>
              <a:srgbClr val="B5C1E2"/>
            </a:solidFill>
            <a:prstDash val="solid"/>
          </a:ln>
          <a:effectLst>
            <a:outerShdw dist="25400" dir="2700000" algn="bl" rotWithShape="0">
              <a:srgbClr val="B5C1E2">
                <a:alpha val="100000"/>
              </a:srgbClr>
            </a:outerShdw>
          </a:effectLst>
        </p:spPr>
      </p:sp>
      <p:sp>
        <p:nvSpPr>
          <p:cNvPr id="11" name="Shape 2">
            <a:extLst>
              <a:ext uri="{FF2B5EF4-FFF2-40B4-BE49-F238E27FC236}">
                <a16:creationId xmlns:a16="http://schemas.microsoft.com/office/drawing/2014/main" id="{25C61AAE-9976-2770-6110-FA4EE4BC423C}"/>
              </a:ext>
            </a:extLst>
          </p:cNvPr>
          <p:cNvSpPr/>
          <p:nvPr/>
        </p:nvSpPr>
        <p:spPr>
          <a:xfrm>
            <a:off x="620204" y="892016"/>
            <a:ext cx="77639" cy="1514356"/>
          </a:xfrm>
          <a:prstGeom prst="roundRect">
            <a:avLst>
              <a:gd name="adj" fmla="val 195349"/>
            </a:avLst>
          </a:prstGeom>
          <a:solidFill>
            <a:srgbClr val="A2B9F9"/>
          </a:solidFill>
          <a:ln/>
        </p:spPr>
      </p:sp>
      <p:sp>
        <p:nvSpPr>
          <p:cNvPr id="12" name="Text 3">
            <a:extLst>
              <a:ext uri="{FF2B5EF4-FFF2-40B4-BE49-F238E27FC236}">
                <a16:creationId xmlns:a16="http://schemas.microsoft.com/office/drawing/2014/main" id="{07AF8E88-F5E3-2748-0A10-57E190A51E33}"/>
              </a:ext>
            </a:extLst>
          </p:cNvPr>
          <p:cNvSpPr/>
          <p:nvPr/>
        </p:nvSpPr>
        <p:spPr>
          <a:xfrm>
            <a:off x="932863" y="1113234"/>
            <a:ext cx="2163888" cy="317778"/>
          </a:xfrm>
          <a:prstGeom prst="rect">
            <a:avLst/>
          </a:prstGeom>
          <a:noFill/>
          <a:ln/>
        </p:spPr>
        <p:txBody>
          <a:bodyPr wrap="none" lIns="0" tIns="0" rIns="0" bIns="0" rtlCol="0" anchor="t"/>
          <a:lstStyle/>
          <a:p>
            <a:pPr marL="0" indent="0" algn="l">
              <a:lnSpc>
                <a:spcPts val="2400"/>
              </a:lnSpc>
              <a:buNone/>
            </a:pPr>
            <a:r>
              <a:rPr lang="en-US" sz="1950" dirty="0">
                <a:solidFill>
                  <a:srgbClr val="666666"/>
                </a:solidFill>
                <a:latin typeface="Outfit Medium" pitchFamily="34" charset="0"/>
                <a:ea typeface="Outfit Medium" pitchFamily="34" charset="-122"/>
                <a:cs typeface="Outfit Medium" pitchFamily="34" charset="-120"/>
              </a:rPr>
              <a:t>Memory </a:t>
            </a:r>
            <a:r>
              <a:rPr lang="en-US" sz="1950" dirty="0">
                <a:solidFill>
                  <a:srgbClr val="000000"/>
                </a:solidFill>
                <a:latin typeface="Outfit Medium" pitchFamily="34" charset="0"/>
                <a:ea typeface="Outfit Medium" pitchFamily="34" charset="-122"/>
                <a:cs typeface="Outfit Medium" pitchFamily="34" charset="-120"/>
              </a:rPr>
              <a:t>↔</a:t>
            </a:r>
            <a:r>
              <a:rPr lang="en-US" sz="1950" dirty="0">
                <a:solidFill>
                  <a:srgbClr val="666666"/>
                </a:solidFill>
                <a:latin typeface="Outfit Medium" pitchFamily="34" charset="0"/>
                <a:ea typeface="Outfit Medium" pitchFamily="34" charset="-122"/>
                <a:cs typeface="Outfit Medium" pitchFamily="34" charset="-120"/>
              </a:rPr>
              <a:t> RAM (0.63)</a:t>
            </a:r>
            <a:endParaRPr lang="en-US" sz="1950" dirty="0"/>
          </a:p>
        </p:txBody>
      </p:sp>
      <p:sp>
        <p:nvSpPr>
          <p:cNvPr id="14" name="Text 4">
            <a:extLst>
              <a:ext uri="{FF2B5EF4-FFF2-40B4-BE49-F238E27FC236}">
                <a16:creationId xmlns:a16="http://schemas.microsoft.com/office/drawing/2014/main" id="{FA25BA72-59E8-88F3-31CF-9334890AE4DB}"/>
              </a:ext>
            </a:extLst>
          </p:cNvPr>
          <p:cNvSpPr/>
          <p:nvPr/>
        </p:nvSpPr>
        <p:spPr>
          <a:xfrm>
            <a:off x="932863" y="1550075"/>
            <a:ext cx="5019046" cy="635079"/>
          </a:xfrm>
          <a:prstGeom prst="rect">
            <a:avLst/>
          </a:prstGeom>
          <a:noFill/>
          <a:ln/>
        </p:spPr>
        <p:txBody>
          <a:bodyPr wrap="square" lIns="0" tIns="0" rIns="0" bIns="0" rtlCol="0" anchor="t"/>
          <a:lstStyle/>
          <a:p>
            <a:pPr marL="0" indent="0" algn="l">
              <a:lnSpc>
                <a:spcPts val="2500"/>
              </a:lnSpc>
              <a:buNone/>
            </a:pPr>
            <a:r>
              <a:rPr lang="en-US" sz="1550" dirty="0">
                <a:solidFill>
                  <a:srgbClr val="666666"/>
                </a:solidFill>
                <a:latin typeface="IBM Plex Sans" pitchFamily="34" charset="0"/>
                <a:ea typeface="IBM Plex Sans" pitchFamily="34" charset="-122"/>
                <a:cs typeface="IBM Plex Sans" pitchFamily="34" charset="-120"/>
              </a:rPr>
              <a:t>Strong positive relationship indicates higher RAM devices tend to come with higher storage capacity</a:t>
            </a:r>
            <a:endParaRPr lang="en-US" sz="1550" dirty="0"/>
          </a:p>
        </p:txBody>
      </p:sp>
      <p:sp>
        <p:nvSpPr>
          <p:cNvPr id="15" name="Shape 5">
            <a:extLst>
              <a:ext uri="{FF2B5EF4-FFF2-40B4-BE49-F238E27FC236}">
                <a16:creationId xmlns:a16="http://schemas.microsoft.com/office/drawing/2014/main" id="{3ABB9352-A17B-0E04-2576-B9DE3DF11BF3}"/>
              </a:ext>
            </a:extLst>
          </p:cNvPr>
          <p:cNvSpPr/>
          <p:nvPr/>
        </p:nvSpPr>
        <p:spPr>
          <a:xfrm>
            <a:off x="6489931" y="892016"/>
            <a:ext cx="5452935" cy="1514356"/>
          </a:xfrm>
          <a:prstGeom prst="roundRect">
            <a:avLst>
              <a:gd name="adj" fmla="val 7246"/>
            </a:avLst>
          </a:prstGeom>
          <a:solidFill>
            <a:srgbClr val="FFFFFF">
              <a:alpha val="95000"/>
            </a:srgbClr>
          </a:solidFill>
          <a:ln w="22860">
            <a:solidFill>
              <a:srgbClr val="B5C1E2"/>
            </a:solidFill>
            <a:prstDash val="solid"/>
          </a:ln>
          <a:effectLst>
            <a:outerShdw dist="25400" dir="2700000" algn="bl" rotWithShape="0">
              <a:srgbClr val="B5C1E2">
                <a:alpha val="100000"/>
              </a:srgbClr>
            </a:outerShdw>
          </a:effectLst>
        </p:spPr>
      </p:sp>
      <p:sp>
        <p:nvSpPr>
          <p:cNvPr id="16" name="Shape 6">
            <a:extLst>
              <a:ext uri="{FF2B5EF4-FFF2-40B4-BE49-F238E27FC236}">
                <a16:creationId xmlns:a16="http://schemas.microsoft.com/office/drawing/2014/main" id="{EE0A163F-F6B3-E9AE-E4F8-3E7B728D83F6}"/>
              </a:ext>
            </a:extLst>
          </p:cNvPr>
          <p:cNvSpPr/>
          <p:nvPr/>
        </p:nvSpPr>
        <p:spPr>
          <a:xfrm>
            <a:off x="6467070" y="892016"/>
            <a:ext cx="77639" cy="1514356"/>
          </a:xfrm>
          <a:prstGeom prst="roundRect">
            <a:avLst>
              <a:gd name="adj" fmla="val 195349"/>
            </a:avLst>
          </a:prstGeom>
          <a:solidFill>
            <a:srgbClr val="A2B9F9"/>
          </a:solidFill>
          <a:ln/>
        </p:spPr>
      </p:sp>
      <p:sp>
        <p:nvSpPr>
          <p:cNvPr id="17" name="Text 7">
            <a:extLst>
              <a:ext uri="{FF2B5EF4-FFF2-40B4-BE49-F238E27FC236}">
                <a16:creationId xmlns:a16="http://schemas.microsoft.com/office/drawing/2014/main" id="{4A6BC794-19BC-EFE6-59E3-EBAEDD9E1BB0}"/>
              </a:ext>
            </a:extLst>
          </p:cNvPr>
          <p:cNvSpPr/>
          <p:nvPr/>
        </p:nvSpPr>
        <p:spPr>
          <a:xfrm>
            <a:off x="6779729" y="1113234"/>
            <a:ext cx="2178344" cy="317778"/>
          </a:xfrm>
          <a:prstGeom prst="rect">
            <a:avLst/>
          </a:prstGeom>
          <a:noFill/>
          <a:ln/>
        </p:spPr>
        <p:txBody>
          <a:bodyPr wrap="none" lIns="0" tIns="0" rIns="0" bIns="0" rtlCol="0" anchor="t"/>
          <a:lstStyle/>
          <a:p>
            <a:pPr marL="0" indent="0" algn="l">
              <a:lnSpc>
                <a:spcPts val="2400"/>
              </a:lnSpc>
              <a:buNone/>
            </a:pPr>
            <a:r>
              <a:rPr lang="en-US" sz="1950" dirty="0">
                <a:solidFill>
                  <a:srgbClr val="666666"/>
                </a:solidFill>
                <a:latin typeface="Outfit Medium" pitchFamily="34" charset="0"/>
                <a:ea typeface="Outfit Medium" pitchFamily="34" charset="-122"/>
                <a:cs typeface="Outfit Medium" pitchFamily="34" charset="-120"/>
              </a:rPr>
              <a:t>Memory </a:t>
            </a:r>
            <a:r>
              <a:rPr lang="en-US" sz="1950" dirty="0">
                <a:solidFill>
                  <a:srgbClr val="000000"/>
                </a:solidFill>
                <a:latin typeface="Outfit Medium" pitchFamily="34" charset="0"/>
                <a:ea typeface="Outfit Medium" pitchFamily="34" charset="-122"/>
                <a:cs typeface="Outfit Medium" pitchFamily="34" charset="-120"/>
              </a:rPr>
              <a:t>↔</a:t>
            </a:r>
            <a:r>
              <a:rPr lang="en-US" sz="1950" dirty="0">
                <a:solidFill>
                  <a:srgbClr val="666666"/>
                </a:solidFill>
                <a:latin typeface="Outfit Medium" pitchFamily="34" charset="0"/>
                <a:ea typeface="Outfit Medium" pitchFamily="34" charset="-122"/>
                <a:cs typeface="Outfit Medium" pitchFamily="34" charset="-120"/>
              </a:rPr>
              <a:t> Prize (0.57)</a:t>
            </a:r>
            <a:endParaRPr lang="en-US" sz="1950" dirty="0"/>
          </a:p>
        </p:txBody>
      </p:sp>
      <p:sp>
        <p:nvSpPr>
          <p:cNvPr id="23" name="Text 8">
            <a:extLst>
              <a:ext uri="{FF2B5EF4-FFF2-40B4-BE49-F238E27FC236}">
                <a16:creationId xmlns:a16="http://schemas.microsoft.com/office/drawing/2014/main" id="{5C8530FA-0B9E-AA3D-3D70-FCE3F4ED3277}"/>
              </a:ext>
            </a:extLst>
          </p:cNvPr>
          <p:cNvSpPr/>
          <p:nvPr/>
        </p:nvSpPr>
        <p:spPr>
          <a:xfrm>
            <a:off x="6779729" y="1550075"/>
            <a:ext cx="5019046" cy="635079"/>
          </a:xfrm>
          <a:prstGeom prst="rect">
            <a:avLst/>
          </a:prstGeom>
          <a:noFill/>
          <a:ln/>
        </p:spPr>
        <p:txBody>
          <a:bodyPr wrap="square" lIns="0" tIns="0" rIns="0" bIns="0" rtlCol="0" anchor="t"/>
          <a:lstStyle/>
          <a:p>
            <a:pPr marL="0" indent="0" algn="l">
              <a:lnSpc>
                <a:spcPts val="2500"/>
              </a:lnSpc>
              <a:buNone/>
            </a:pPr>
            <a:r>
              <a:rPr lang="en-US" sz="1550" dirty="0">
                <a:solidFill>
                  <a:srgbClr val="666666"/>
                </a:solidFill>
                <a:latin typeface="IBM Plex Sans" pitchFamily="34" charset="0"/>
                <a:ea typeface="IBM Plex Sans" pitchFamily="34" charset="-122"/>
                <a:cs typeface="IBM Plex Sans" pitchFamily="34" charset="-120"/>
              </a:rPr>
              <a:t>Storage is key pricing factor with higher storage variants positioned as premium offerings</a:t>
            </a:r>
            <a:endParaRPr lang="en-US" sz="1550" dirty="0"/>
          </a:p>
        </p:txBody>
      </p:sp>
      <p:sp>
        <p:nvSpPr>
          <p:cNvPr id="24" name="Shape 9">
            <a:extLst>
              <a:ext uri="{FF2B5EF4-FFF2-40B4-BE49-F238E27FC236}">
                <a16:creationId xmlns:a16="http://schemas.microsoft.com/office/drawing/2014/main" id="{ABE53171-D8A4-B9AB-48F2-5081CBF61867}"/>
              </a:ext>
            </a:extLst>
          </p:cNvPr>
          <p:cNvSpPr/>
          <p:nvPr/>
        </p:nvSpPr>
        <p:spPr>
          <a:xfrm>
            <a:off x="643065" y="2604730"/>
            <a:ext cx="5452935" cy="1514356"/>
          </a:xfrm>
          <a:prstGeom prst="roundRect">
            <a:avLst>
              <a:gd name="adj" fmla="val 7246"/>
            </a:avLst>
          </a:prstGeom>
          <a:solidFill>
            <a:srgbClr val="FFFFFF">
              <a:alpha val="95000"/>
            </a:srgbClr>
          </a:solidFill>
          <a:ln w="22860">
            <a:solidFill>
              <a:srgbClr val="B5C1E2"/>
            </a:solidFill>
            <a:prstDash val="solid"/>
          </a:ln>
          <a:effectLst>
            <a:outerShdw dist="25400" dir="2700000" algn="bl" rotWithShape="0">
              <a:srgbClr val="B5C1E2">
                <a:alpha val="100000"/>
              </a:srgbClr>
            </a:outerShdw>
          </a:effectLst>
        </p:spPr>
      </p:sp>
      <p:sp>
        <p:nvSpPr>
          <p:cNvPr id="26" name="Shape 10">
            <a:extLst>
              <a:ext uri="{FF2B5EF4-FFF2-40B4-BE49-F238E27FC236}">
                <a16:creationId xmlns:a16="http://schemas.microsoft.com/office/drawing/2014/main" id="{3838C5B0-C883-83D5-E30A-7D385B8C9F5C}"/>
              </a:ext>
            </a:extLst>
          </p:cNvPr>
          <p:cNvSpPr/>
          <p:nvPr/>
        </p:nvSpPr>
        <p:spPr>
          <a:xfrm>
            <a:off x="620204" y="2604730"/>
            <a:ext cx="77639" cy="1514356"/>
          </a:xfrm>
          <a:prstGeom prst="roundRect">
            <a:avLst>
              <a:gd name="adj" fmla="val 195349"/>
            </a:avLst>
          </a:prstGeom>
          <a:solidFill>
            <a:srgbClr val="A2B9F9"/>
          </a:solidFill>
          <a:ln/>
        </p:spPr>
      </p:sp>
      <p:sp>
        <p:nvSpPr>
          <p:cNvPr id="27" name="Text 11">
            <a:extLst>
              <a:ext uri="{FF2B5EF4-FFF2-40B4-BE49-F238E27FC236}">
                <a16:creationId xmlns:a16="http://schemas.microsoft.com/office/drawing/2014/main" id="{971610EF-37FA-F33A-B929-9A63B81EF98C}"/>
              </a:ext>
            </a:extLst>
          </p:cNvPr>
          <p:cNvSpPr/>
          <p:nvPr/>
        </p:nvSpPr>
        <p:spPr>
          <a:xfrm>
            <a:off x="932862" y="2825948"/>
            <a:ext cx="2106467" cy="317778"/>
          </a:xfrm>
          <a:prstGeom prst="rect">
            <a:avLst/>
          </a:prstGeom>
          <a:noFill/>
          <a:ln/>
        </p:spPr>
        <p:txBody>
          <a:bodyPr wrap="none" lIns="0" tIns="0" rIns="0" bIns="0" rtlCol="0" anchor="t"/>
          <a:lstStyle/>
          <a:p>
            <a:pPr marL="0" indent="0" algn="l">
              <a:lnSpc>
                <a:spcPts val="2400"/>
              </a:lnSpc>
              <a:buNone/>
            </a:pPr>
            <a:r>
              <a:rPr lang="en-US" sz="1950" dirty="0">
                <a:solidFill>
                  <a:srgbClr val="666666"/>
                </a:solidFill>
                <a:latin typeface="Outfit Medium" pitchFamily="34" charset="0"/>
                <a:ea typeface="Outfit Medium" pitchFamily="34" charset="-122"/>
                <a:cs typeface="Outfit Medium" pitchFamily="34" charset="-120"/>
              </a:rPr>
              <a:t>RAM </a:t>
            </a:r>
            <a:r>
              <a:rPr lang="en-US" sz="1950" dirty="0">
                <a:solidFill>
                  <a:srgbClr val="000000"/>
                </a:solidFill>
                <a:latin typeface="Outfit Medium" pitchFamily="34" charset="0"/>
                <a:ea typeface="Outfit Medium" pitchFamily="34" charset="-122"/>
                <a:cs typeface="Outfit Medium" pitchFamily="34" charset="-120"/>
              </a:rPr>
              <a:t>↔</a:t>
            </a:r>
            <a:r>
              <a:rPr lang="en-US" sz="1950" dirty="0">
                <a:solidFill>
                  <a:srgbClr val="666666"/>
                </a:solidFill>
                <a:latin typeface="Outfit Medium" pitchFamily="34" charset="0"/>
                <a:ea typeface="Outfit Medium" pitchFamily="34" charset="-122"/>
                <a:cs typeface="Outfit Medium" pitchFamily="34" charset="-120"/>
              </a:rPr>
              <a:t> Prize (0.52)</a:t>
            </a:r>
            <a:endParaRPr lang="en-US" sz="1950" dirty="0"/>
          </a:p>
        </p:txBody>
      </p:sp>
      <p:sp>
        <p:nvSpPr>
          <p:cNvPr id="28" name="Text 12">
            <a:extLst>
              <a:ext uri="{FF2B5EF4-FFF2-40B4-BE49-F238E27FC236}">
                <a16:creationId xmlns:a16="http://schemas.microsoft.com/office/drawing/2014/main" id="{CAE18CF7-9831-35EC-14FD-5DA50805A898}"/>
              </a:ext>
            </a:extLst>
          </p:cNvPr>
          <p:cNvSpPr/>
          <p:nvPr/>
        </p:nvSpPr>
        <p:spPr>
          <a:xfrm>
            <a:off x="932863" y="3262789"/>
            <a:ext cx="5019046" cy="635079"/>
          </a:xfrm>
          <a:prstGeom prst="rect">
            <a:avLst/>
          </a:prstGeom>
          <a:noFill/>
          <a:ln/>
        </p:spPr>
        <p:txBody>
          <a:bodyPr wrap="square" lIns="0" tIns="0" rIns="0" bIns="0" rtlCol="0" anchor="t"/>
          <a:lstStyle/>
          <a:p>
            <a:pPr marL="0" indent="0" algn="l">
              <a:lnSpc>
                <a:spcPts val="2500"/>
              </a:lnSpc>
              <a:buNone/>
            </a:pPr>
            <a:r>
              <a:rPr lang="en-US" sz="1550" dirty="0">
                <a:solidFill>
                  <a:srgbClr val="666666"/>
                </a:solidFill>
                <a:latin typeface="IBM Plex Sans" pitchFamily="34" charset="0"/>
                <a:ea typeface="IBM Plex Sans" pitchFamily="34" charset="-122"/>
                <a:cs typeface="IBM Plex Sans" pitchFamily="34" charset="-120"/>
              </a:rPr>
              <a:t>Higher RAM devices generally priced higher, reflecting performance-oriented positioning</a:t>
            </a:r>
            <a:endParaRPr lang="en-US" sz="1550" dirty="0"/>
          </a:p>
        </p:txBody>
      </p:sp>
      <p:sp>
        <p:nvSpPr>
          <p:cNvPr id="29" name="Shape 13">
            <a:extLst>
              <a:ext uri="{FF2B5EF4-FFF2-40B4-BE49-F238E27FC236}">
                <a16:creationId xmlns:a16="http://schemas.microsoft.com/office/drawing/2014/main" id="{D479845B-4FD9-DE1C-184C-C0ECC43B3B3F}"/>
              </a:ext>
            </a:extLst>
          </p:cNvPr>
          <p:cNvSpPr/>
          <p:nvPr/>
        </p:nvSpPr>
        <p:spPr>
          <a:xfrm>
            <a:off x="6489931" y="2604730"/>
            <a:ext cx="5452935" cy="1514356"/>
          </a:xfrm>
          <a:prstGeom prst="roundRect">
            <a:avLst>
              <a:gd name="adj" fmla="val 7246"/>
            </a:avLst>
          </a:prstGeom>
          <a:solidFill>
            <a:srgbClr val="FFFFFF">
              <a:alpha val="95000"/>
            </a:srgbClr>
          </a:solidFill>
          <a:ln w="22860">
            <a:solidFill>
              <a:srgbClr val="B5C1E2"/>
            </a:solidFill>
            <a:prstDash val="solid"/>
          </a:ln>
          <a:effectLst>
            <a:outerShdw dist="25400" dir="2700000" algn="bl" rotWithShape="0">
              <a:srgbClr val="B5C1E2">
                <a:alpha val="100000"/>
              </a:srgbClr>
            </a:outerShdw>
          </a:effectLst>
        </p:spPr>
      </p:sp>
      <p:sp>
        <p:nvSpPr>
          <p:cNvPr id="30" name="Shape 14">
            <a:extLst>
              <a:ext uri="{FF2B5EF4-FFF2-40B4-BE49-F238E27FC236}">
                <a16:creationId xmlns:a16="http://schemas.microsoft.com/office/drawing/2014/main" id="{CFE7DBD6-4C18-006F-C762-4C31181DCC44}"/>
              </a:ext>
            </a:extLst>
          </p:cNvPr>
          <p:cNvSpPr/>
          <p:nvPr/>
        </p:nvSpPr>
        <p:spPr>
          <a:xfrm>
            <a:off x="6467070" y="2604730"/>
            <a:ext cx="77639" cy="1514356"/>
          </a:xfrm>
          <a:prstGeom prst="roundRect">
            <a:avLst>
              <a:gd name="adj" fmla="val 195349"/>
            </a:avLst>
          </a:prstGeom>
          <a:solidFill>
            <a:srgbClr val="A2B9F9"/>
          </a:solidFill>
          <a:ln/>
        </p:spPr>
      </p:sp>
      <p:sp>
        <p:nvSpPr>
          <p:cNvPr id="31" name="Text 15">
            <a:extLst>
              <a:ext uri="{FF2B5EF4-FFF2-40B4-BE49-F238E27FC236}">
                <a16:creationId xmlns:a16="http://schemas.microsoft.com/office/drawing/2014/main" id="{A512CF81-A644-916B-78F5-E1D0915EEF8F}"/>
              </a:ext>
            </a:extLst>
          </p:cNvPr>
          <p:cNvSpPr/>
          <p:nvPr/>
        </p:nvSpPr>
        <p:spPr>
          <a:xfrm>
            <a:off x="6779728" y="2825948"/>
            <a:ext cx="2617995" cy="317778"/>
          </a:xfrm>
          <a:prstGeom prst="rect">
            <a:avLst/>
          </a:prstGeom>
          <a:noFill/>
          <a:ln/>
        </p:spPr>
        <p:txBody>
          <a:bodyPr wrap="none" lIns="0" tIns="0" rIns="0" bIns="0" rtlCol="0" anchor="t"/>
          <a:lstStyle/>
          <a:p>
            <a:pPr marL="0" indent="0" algn="l">
              <a:lnSpc>
                <a:spcPts val="2400"/>
              </a:lnSpc>
              <a:buNone/>
            </a:pPr>
            <a:r>
              <a:rPr lang="en-US" sz="1950" dirty="0">
                <a:solidFill>
                  <a:srgbClr val="666666"/>
                </a:solidFill>
                <a:latin typeface="Outfit Medium" pitchFamily="34" charset="0"/>
                <a:ea typeface="Outfit Medium" pitchFamily="34" charset="-122"/>
                <a:cs typeface="Outfit Medium" pitchFamily="34" charset="-120"/>
              </a:rPr>
              <a:t>Rear Camera </a:t>
            </a:r>
            <a:r>
              <a:rPr lang="en-US" sz="1950" dirty="0">
                <a:solidFill>
                  <a:srgbClr val="000000"/>
                </a:solidFill>
                <a:latin typeface="Outfit Medium" pitchFamily="34" charset="0"/>
                <a:ea typeface="Outfit Medium" pitchFamily="34" charset="-122"/>
                <a:cs typeface="Outfit Medium" pitchFamily="34" charset="-120"/>
              </a:rPr>
              <a:t>↔</a:t>
            </a:r>
            <a:r>
              <a:rPr lang="en-US" sz="1950" dirty="0">
                <a:solidFill>
                  <a:srgbClr val="666666"/>
                </a:solidFill>
                <a:latin typeface="Outfit Medium" pitchFamily="34" charset="0"/>
                <a:ea typeface="Outfit Medium" pitchFamily="34" charset="-122"/>
                <a:cs typeface="Outfit Medium" pitchFamily="34" charset="-120"/>
              </a:rPr>
              <a:t> Prize (0.41)</a:t>
            </a:r>
            <a:endParaRPr lang="en-US" sz="1950" dirty="0"/>
          </a:p>
        </p:txBody>
      </p:sp>
      <p:sp>
        <p:nvSpPr>
          <p:cNvPr id="32" name="Text 16">
            <a:extLst>
              <a:ext uri="{FF2B5EF4-FFF2-40B4-BE49-F238E27FC236}">
                <a16:creationId xmlns:a16="http://schemas.microsoft.com/office/drawing/2014/main" id="{C6D0DF0F-7ED3-C3BD-B9CA-CC605BF0BF07}"/>
              </a:ext>
            </a:extLst>
          </p:cNvPr>
          <p:cNvSpPr/>
          <p:nvPr/>
        </p:nvSpPr>
        <p:spPr>
          <a:xfrm>
            <a:off x="6779729" y="3262789"/>
            <a:ext cx="5019046" cy="635079"/>
          </a:xfrm>
          <a:prstGeom prst="rect">
            <a:avLst/>
          </a:prstGeom>
          <a:noFill/>
          <a:ln/>
        </p:spPr>
        <p:txBody>
          <a:bodyPr wrap="square" lIns="0" tIns="0" rIns="0" bIns="0" rtlCol="0" anchor="t"/>
          <a:lstStyle/>
          <a:p>
            <a:pPr marL="0" indent="0" algn="l">
              <a:lnSpc>
                <a:spcPts val="2500"/>
              </a:lnSpc>
              <a:buNone/>
            </a:pPr>
            <a:r>
              <a:rPr lang="en-US" sz="1550" dirty="0">
                <a:solidFill>
                  <a:srgbClr val="666666"/>
                </a:solidFill>
                <a:latin typeface="IBM Plex Sans" pitchFamily="34" charset="0"/>
                <a:ea typeface="IBM Plex Sans" pitchFamily="34" charset="-122"/>
                <a:cs typeface="IBM Plex Sans" pitchFamily="34" charset="-120"/>
              </a:rPr>
              <a:t>Moderate correlation shows better camera capabilities associated with higher-priced devices</a:t>
            </a:r>
            <a:endParaRPr lang="en-US" sz="1550" dirty="0"/>
          </a:p>
        </p:txBody>
      </p:sp>
      <p:sp>
        <p:nvSpPr>
          <p:cNvPr id="33" name="Text 17">
            <a:extLst>
              <a:ext uri="{FF2B5EF4-FFF2-40B4-BE49-F238E27FC236}">
                <a16:creationId xmlns:a16="http://schemas.microsoft.com/office/drawing/2014/main" id="{09B8FEC8-4542-8816-B9FB-5EE29459E1B4}"/>
              </a:ext>
            </a:extLst>
          </p:cNvPr>
          <p:cNvSpPr/>
          <p:nvPr/>
        </p:nvSpPr>
        <p:spPr>
          <a:xfrm>
            <a:off x="620204" y="4555927"/>
            <a:ext cx="11299802" cy="1985033"/>
          </a:xfrm>
          <a:prstGeom prst="rect">
            <a:avLst/>
          </a:prstGeom>
          <a:noFill/>
          <a:ln/>
        </p:spPr>
        <p:txBody>
          <a:bodyPr wrap="square" lIns="0" tIns="0" rIns="0" bIns="0" rtlCol="0" anchor="t"/>
          <a:lstStyle/>
          <a:p>
            <a:pPr marL="0" indent="0" algn="l">
              <a:lnSpc>
                <a:spcPts val="2500"/>
              </a:lnSpc>
              <a:buNone/>
            </a:pPr>
            <a:r>
              <a:rPr lang="en-US" sz="1550" dirty="0">
                <a:solidFill>
                  <a:srgbClr val="666666"/>
                </a:solidFill>
                <a:latin typeface="IBM Plex Sans" pitchFamily="34" charset="0"/>
                <a:ea typeface="IBM Plex Sans" pitchFamily="34" charset="-122"/>
                <a:cs typeface="IBM Plex Sans" pitchFamily="34" charset="-120"/>
              </a:rPr>
              <a:t>Battery capacity shows weak correlation with most features, suggesting standardization (5000 mAh trend) rather than premium differentiator. Mobile height has minimal impact on pricing, indicating physical dimensions are not major pricing factor. AI Lens shows negligible correlation with all variables, suggesting supplementary or marketing-driven feature.</a:t>
            </a:r>
            <a:endParaRPr lang="en-US" sz="1550" dirty="0"/>
          </a:p>
        </p:txBody>
      </p:sp>
    </p:spTree>
    <p:extLst>
      <p:ext uri="{BB962C8B-B14F-4D97-AF65-F5344CB8AC3E}">
        <p14:creationId xmlns:p14="http://schemas.microsoft.com/office/powerpoint/2010/main" val="40206238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100000">
              <a:srgbClr val="CCECFF"/>
            </a:gs>
            <a:gs pos="18000">
              <a:srgbClr val="FFCCFF"/>
            </a:gs>
          </a:gsLst>
          <a:lin ang="5400000" scaled="1"/>
        </a:gradFill>
        <a:effectLst/>
      </p:bgPr>
    </p:bg>
    <p:spTree>
      <p:nvGrpSpPr>
        <p:cNvPr id="1" name="">
          <a:extLst>
            <a:ext uri="{FF2B5EF4-FFF2-40B4-BE49-F238E27FC236}">
              <a16:creationId xmlns:a16="http://schemas.microsoft.com/office/drawing/2014/main" id="{4822229D-1CF1-805D-6111-7CE35D0F3EAD}"/>
            </a:ext>
          </a:extLst>
        </p:cNvPr>
        <p:cNvGrpSpPr/>
        <p:nvPr/>
      </p:nvGrpSpPr>
      <p:grpSpPr>
        <a:xfrm>
          <a:off x="0" y="0"/>
          <a:ext cx="0" cy="0"/>
          <a:chOff x="0" y="0"/>
          <a:chExt cx="0" cy="0"/>
        </a:xfrm>
      </p:grpSpPr>
      <p:sp>
        <p:nvSpPr>
          <p:cNvPr id="6" name="Text 0">
            <a:extLst>
              <a:ext uri="{FF2B5EF4-FFF2-40B4-BE49-F238E27FC236}">
                <a16:creationId xmlns:a16="http://schemas.microsoft.com/office/drawing/2014/main" id="{071B1A63-1AA4-CBA9-DA07-3BA88AC4F7DC}"/>
              </a:ext>
            </a:extLst>
          </p:cNvPr>
          <p:cNvSpPr/>
          <p:nvPr/>
        </p:nvSpPr>
        <p:spPr>
          <a:xfrm>
            <a:off x="3670101" y="0"/>
            <a:ext cx="4851798" cy="620078"/>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4850"/>
              </a:lnSpc>
              <a:buNone/>
            </a:pPr>
            <a:r>
              <a:rPr lang="en-US" sz="3900" dirty="0">
                <a:solidFill>
                  <a:srgbClr val="3F6FF3"/>
                </a:solidFill>
                <a:latin typeface="Outfit Medium" pitchFamily="34" charset="0"/>
                <a:ea typeface="Outfit Medium" pitchFamily="34" charset="-122"/>
                <a:cs typeface="Outfit Medium" pitchFamily="34" charset="-120"/>
              </a:rPr>
              <a:t>Key Correlation Insights</a:t>
            </a:r>
            <a:endParaRPr lang="en-US" sz="3900" dirty="0"/>
          </a:p>
        </p:txBody>
      </p:sp>
      <p:sp>
        <p:nvSpPr>
          <p:cNvPr id="7" name="Shape 1">
            <a:extLst>
              <a:ext uri="{FF2B5EF4-FFF2-40B4-BE49-F238E27FC236}">
                <a16:creationId xmlns:a16="http://schemas.microsoft.com/office/drawing/2014/main" id="{1EBCE08D-F733-232D-2474-6C0170E7974C}"/>
              </a:ext>
            </a:extLst>
          </p:cNvPr>
          <p:cNvSpPr/>
          <p:nvPr/>
        </p:nvSpPr>
        <p:spPr>
          <a:xfrm>
            <a:off x="132542" y="1038404"/>
            <a:ext cx="5875709" cy="1514356"/>
          </a:xfrm>
          <a:prstGeom prst="roundRect">
            <a:avLst>
              <a:gd name="adj" fmla="val 7246"/>
            </a:avLst>
          </a:prstGeom>
          <a:solidFill>
            <a:srgbClr val="FFFFFF">
              <a:alpha val="95000"/>
            </a:srgbClr>
          </a:solidFill>
          <a:ln w="22860">
            <a:solidFill>
              <a:srgbClr val="B5C1E2"/>
            </a:solidFill>
            <a:prstDash val="solid"/>
          </a:ln>
          <a:effectLst>
            <a:outerShdw dist="25400" dir="2700000" algn="bl" rotWithShape="0">
              <a:srgbClr val="B5C1E2">
                <a:alpha val="100000"/>
              </a:srgbClr>
            </a:outerShdw>
          </a:effectLst>
        </p:spPr>
        <p:txBody>
          <a:bodyPr/>
          <a:lstStyle/>
          <a:p>
            <a:endParaRPr lang="en-IN"/>
          </a:p>
        </p:txBody>
      </p:sp>
      <p:sp>
        <p:nvSpPr>
          <p:cNvPr id="8" name="Shape 2">
            <a:extLst>
              <a:ext uri="{FF2B5EF4-FFF2-40B4-BE49-F238E27FC236}">
                <a16:creationId xmlns:a16="http://schemas.microsoft.com/office/drawing/2014/main" id="{FA0CE187-B315-A691-F252-41D48B37856E}"/>
              </a:ext>
            </a:extLst>
          </p:cNvPr>
          <p:cNvSpPr/>
          <p:nvPr/>
        </p:nvSpPr>
        <p:spPr>
          <a:xfrm>
            <a:off x="109682" y="1038404"/>
            <a:ext cx="83658" cy="1514356"/>
          </a:xfrm>
          <a:prstGeom prst="roundRect">
            <a:avLst>
              <a:gd name="adj" fmla="val 195349"/>
            </a:avLst>
          </a:prstGeom>
          <a:solidFill>
            <a:srgbClr val="A2B9F9"/>
          </a:solidFill>
          <a:ln/>
        </p:spPr>
        <p:txBody>
          <a:bodyPr/>
          <a:lstStyle/>
          <a:p>
            <a:endParaRPr lang="en-IN"/>
          </a:p>
        </p:txBody>
      </p:sp>
      <p:sp>
        <p:nvSpPr>
          <p:cNvPr id="9" name="Text 3">
            <a:extLst>
              <a:ext uri="{FF2B5EF4-FFF2-40B4-BE49-F238E27FC236}">
                <a16:creationId xmlns:a16="http://schemas.microsoft.com/office/drawing/2014/main" id="{4C6C22A9-2EBB-CA47-E27A-1993106642A0}"/>
              </a:ext>
            </a:extLst>
          </p:cNvPr>
          <p:cNvSpPr/>
          <p:nvPr/>
        </p:nvSpPr>
        <p:spPr>
          <a:xfrm>
            <a:off x="422340" y="1259622"/>
            <a:ext cx="3282075" cy="317778"/>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400"/>
              </a:lnSpc>
              <a:buNone/>
            </a:pPr>
            <a:r>
              <a:rPr lang="en-US" sz="1950" dirty="0">
                <a:solidFill>
                  <a:srgbClr val="666666"/>
                </a:solidFill>
                <a:latin typeface="Outfit Medium" pitchFamily="34" charset="0"/>
                <a:ea typeface="Outfit Medium" pitchFamily="34" charset="-122"/>
                <a:cs typeface="Outfit Medium" pitchFamily="34" charset="-120"/>
              </a:rPr>
              <a:t>Front Camera </a:t>
            </a:r>
            <a:r>
              <a:rPr lang="en-US" sz="1950" dirty="0">
                <a:solidFill>
                  <a:srgbClr val="000000"/>
                </a:solidFill>
                <a:latin typeface="Outfit Medium" pitchFamily="34" charset="0"/>
                <a:ea typeface="Outfit Medium" pitchFamily="34" charset="-122"/>
                <a:cs typeface="Outfit Medium" pitchFamily="34" charset="-120"/>
              </a:rPr>
              <a:t>↔</a:t>
            </a:r>
            <a:r>
              <a:rPr lang="en-US" sz="1950" dirty="0">
                <a:solidFill>
                  <a:srgbClr val="666666"/>
                </a:solidFill>
                <a:latin typeface="Outfit Medium" pitchFamily="34" charset="0"/>
                <a:ea typeface="Outfit Medium" pitchFamily="34" charset="-122"/>
                <a:cs typeface="Outfit Medium" pitchFamily="34" charset="-120"/>
              </a:rPr>
              <a:t> Memory (0.48)</a:t>
            </a:r>
            <a:endParaRPr lang="en-US" sz="1950" dirty="0"/>
          </a:p>
        </p:txBody>
      </p:sp>
      <p:sp>
        <p:nvSpPr>
          <p:cNvPr id="10" name="Text 4">
            <a:extLst>
              <a:ext uri="{FF2B5EF4-FFF2-40B4-BE49-F238E27FC236}">
                <a16:creationId xmlns:a16="http://schemas.microsoft.com/office/drawing/2014/main" id="{987E88AB-2864-A6BB-F701-66A5A686C42D}"/>
              </a:ext>
            </a:extLst>
          </p:cNvPr>
          <p:cNvSpPr/>
          <p:nvPr/>
        </p:nvSpPr>
        <p:spPr>
          <a:xfrm>
            <a:off x="422341" y="1696463"/>
            <a:ext cx="5408179" cy="635079"/>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500"/>
              </a:lnSpc>
              <a:buNone/>
            </a:pPr>
            <a:r>
              <a:rPr lang="en-US" sz="1550" dirty="0">
                <a:solidFill>
                  <a:srgbClr val="666666"/>
                </a:solidFill>
                <a:latin typeface="IBM Plex Sans" pitchFamily="34" charset="0"/>
                <a:ea typeface="IBM Plex Sans" pitchFamily="34" charset="-122"/>
                <a:cs typeface="IBM Plex Sans" pitchFamily="34" charset="-120"/>
              </a:rPr>
              <a:t>Devices with higher front camera specs often pair with larger memory configurations, suggesting a more feature-rich tier.</a:t>
            </a:r>
            <a:endParaRPr lang="en-US" sz="1550" dirty="0"/>
          </a:p>
        </p:txBody>
      </p:sp>
      <p:sp>
        <p:nvSpPr>
          <p:cNvPr id="13" name="Shape 5">
            <a:extLst>
              <a:ext uri="{FF2B5EF4-FFF2-40B4-BE49-F238E27FC236}">
                <a16:creationId xmlns:a16="http://schemas.microsoft.com/office/drawing/2014/main" id="{FD050145-0DF4-1C71-2255-3283E552DFDE}"/>
              </a:ext>
            </a:extLst>
          </p:cNvPr>
          <p:cNvSpPr/>
          <p:nvPr/>
        </p:nvSpPr>
        <p:spPr>
          <a:xfrm>
            <a:off x="6206609" y="1038404"/>
            <a:ext cx="5875709" cy="1514356"/>
          </a:xfrm>
          <a:prstGeom prst="roundRect">
            <a:avLst>
              <a:gd name="adj" fmla="val 7246"/>
            </a:avLst>
          </a:prstGeom>
          <a:solidFill>
            <a:srgbClr val="FFFFFF">
              <a:alpha val="95000"/>
            </a:srgbClr>
          </a:solidFill>
          <a:ln w="22860">
            <a:solidFill>
              <a:srgbClr val="B5C1E2"/>
            </a:solidFill>
            <a:prstDash val="solid"/>
          </a:ln>
          <a:effectLst>
            <a:outerShdw dist="25400" dir="2700000" algn="bl" rotWithShape="0">
              <a:srgbClr val="B5C1E2">
                <a:alpha val="100000"/>
              </a:srgbClr>
            </a:outerShdw>
          </a:effectLst>
        </p:spPr>
        <p:txBody>
          <a:bodyPr/>
          <a:lstStyle/>
          <a:p>
            <a:endParaRPr lang="en-IN"/>
          </a:p>
        </p:txBody>
      </p:sp>
      <p:sp>
        <p:nvSpPr>
          <p:cNvPr id="18" name="Shape 6">
            <a:extLst>
              <a:ext uri="{FF2B5EF4-FFF2-40B4-BE49-F238E27FC236}">
                <a16:creationId xmlns:a16="http://schemas.microsoft.com/office/drawing/2014/main" id="{F8173CFD-2057-D73C-CE21-2E3FD74FEAC8}"/>
              </a:ext>
            </a:extLst>
          </p:cNvPr>
          <p:cNvSpPr/>
          <p:nvPr/>
        </p:nvSpPr>
        <p:spPr>
          <a:xfrm>
            <a:off x="6183749" y="1038404"/>
            <a:ext cx="83658" cy="1514356"/>
          </a:xfrm>
          <a:prstGeom prst="roundRect">
            <a:avLst>
              <a:gd name="adj" fmla="val 195349"/>
            </a:avLst>
          </a:prstGeom>
          <a:solidFill>
            <a:srgbClr val="A2B9F9"/>
          </a:solidFill>
          <a:ln/>
        </p:spPr>
        <p:txBody>
          <a:bodyPr/>
          <a:lstStyle/>
          <a:p>
            <a:endParaRPr lang="en-IN"/>
          </a:p>
        </p:txBody>
      </p:sp>
      <p:sp>
        <p:nvSpPr>
          <p:cNvPr id="19" name="Text 7">
            <a:extLst>
              <a:ext uri="{FF2B5EF4-FFF2-40B4-BE49-F238E27FC236}">
                <a16:creationId xmlns:a16="http://schemas.microsoft.com/office/drawing/2014/main" id="{08F4520B-6A37-889A-2D05-3A28CF3B6CC7}"/>
              </a:ext>
            </a:extLst>
          </p:cNvPr>
          <p:cNvSpPr/>
          <p:nvPr/>
        </p:nvSpPr>
        <p:spPr>
          <a:xfrm>
            <a:off x="6496408" y="1259622"/>
            <a:ext cx="2269784" cy="317778"/>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400"/>
              </a:lnSpc>
              <a:buNone/>
            </a:pPr>
            <a:r>
              <a:rPr lang="en-US" sz="1950" dirty="0">
                <a:solidFill>
                  <a:srgbClr val="666666"/>
                </a:solidFill>
                <a:latin typeface="Outfit Medium" pitchFamily="34" charset="0"/>
                <a:ea typeface="Outfit Medium" pitchFamily="34" charset="-122"/>
                <a:cs typeface="Outfit Medium" pitchFamily="34" charset="-120"/>
              </a:rPr>
              <a:t>Battery </a:t>
            </a:r>
            <a:r>
              <a:rPr lang="en-US" sz="1950" dirty="0">
                <a:solidFill>
                  <a:srgbClr val="000000"/>
                </a:solidFill>
                <a:latin typeface="Outfit Medium" pitchFamily="34" charset="0"/>
                <a:ea typeface="Outfit Medium" pitchFamily="34" charset="-122"/>
                <a:cs typeface="Outfit Medium" pitchFamily="34" charset="-120"/>
              </a:rPr>
              <a:t>↔</a:t>
            </a:r>
            <a:r>
              <a:rPr lang="en-US" sz="1950" dirty="0">
                <a:solidFill>
                  <a:srgbClr val="666666"/>
                </a:solidFill>
                <a:latin typeface="Outfit Medium" pitchFamily="34" charset="0"/>
                <a:ea typeface="Outfit Medium" pitchFamily="34" charset="-122"/>
                <a:cs typeface="Outfit Medium" pitchFamily="34" charset="-120"/>
              </a:rPr>
              <a:t> RAM (0.55)</a:t>
            </a:r>
            <a:endParaRPr lang="en-US" sz="1950" dirty="0"/>
          </a:p>
        </p:txBody>
      </p:sp>
      <p:sp>
        <p:nvSpPr>
          <p:cNvPr id="20" name="Text 8">
            <a:extLst>
              <a:ext uri="{FF2B5EF4-FFF2-40B4-BE49-F238E27FC236}">
                <a16:creationId xmlns:a16="http://schemas.microsoft.com/office/drawing/2014/main" id="{CDD26086-C4CB-1E71-4D60-9F44F7CF7351}"/>
              </a:ext>
            </a:extLst>
          </p:cNvPr>
          <p:cNvSpPr/>
          <p:nvPr/>
        </p:nvSpPr>
        <p:spPr>
          <a:xfrm>
            <a:off x="6496408" y="1696463"/>
            <a:ext cx="5408179" cy="635079"/>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500"/>
              </a:lnSpc>
              <a:buNone/>
            </a:pPr>
            <a:r>
              <a:rPr lang="en-US" sz="1550" dirty="0">
                <a:solidFill>
                  <a:srgbClr val="666666"/>
                </a:solidFill>
                <a:latin typeface="IBM Plex Sans" pitchFamily="34" charset="0"/>
                <a:ea typeface="IBM Plex Sans" pitchFamily="34" charset="-122"/>
                <a:cs typeface="IBM Plex Sans" pitchFamily="34" charset="-120"/>
              </a:rPr>
              <a:t>Higher battery capacity tends to align with higher RAM, indicating devices built for longer, more intensive usage.</a:t>
            </a:r>
            <a:endParaRPr lang="en-US" sz="1550" dirty="0"/>
          </a:p>
        </p:txBody>
      </p:sp>
      <p:sp>
        <p:nvSpPr>
          <p:cNvPr id="21" name="Shape 9">
            <a:extLst>
              <a:ext uri="{FF2B5EF4-FFF2-40B4-BE49-F238E27FC236}">
                <a16:creationId xmlns:a16="http://schemas.microsoft.com/office/drawing/2014/main" id="{E79BDC43-3413-3C5F-7571-2353845ABBC6}"/>
              </a:ext>
            </a:extLst>
          </p:cNvPr>
          <p:cNvSpPr/>
          <p:nvPr/>
        </p:nvSpPr>
        <p:spPr>
          <a:xfrm>
            <a:off x="132542" y="2751118"/>
            <a:ext cx="5875709" cy="1514356"/>
          </a:xfrm>
          <a:prstGeom prst="roundRect">
            <a:avLst>
              <a:gd name="adj" fmla="val 7246"/>
            </a:avLst>
          </a:prstGeom>
          <a:solidFill>
            <a:srgbClr val="FFFFFF">
              <a:alpha val="95000"/>
            </a:srgbClr>
          </a:solidFill>
          <a:ln w="22860">
            <a:solidFill>
              <a:srgbClr val="B5C1E2"/>
            </a:solidFill>
            <a:prstDash val="solid"/>
          </a:ln>
          <a:effectLst>
            <a:outerShdw dist="25400" dir="2700000" algn="bl" rotWithShape="0">
              <a:srgbClr val="B5C1E2">
                <a:alpha val="100000"/>
              </a:srgbClr>
            </a:outerShdw>
          </a:effectLst>
        </p:spPr>
        <p:txBody>
          <a:bodyPr/>
          <a:lstStyle/>
          <a:p>
            <a:endParaRPr lang="en-IN"/>
          </a:p>
        </p:txBody>
      </p:sp>
      <p:sp>
        <p:nvSpPr>
          <p:cNvPr id="22" name="Shape 10">
            <a:extLst>
              <a:ext uri="{FF2B5EF4-FFF2-40B4-BE49-F238E27FC236}">
                <a16:creationId xmlns:a16="http://schemas.microsoft.com/office/drawing/2014/main" id="{70A27000-D613-F99F-CE76-5793F925DD5C}"/>
              </a:ext>
            </a:extLst>
          </p:cNvPr>
          <p:cNvSpPr/>
          <p:nvPr/>
        </p:nvSpPr>
        <p:spPr>
          <a:xfrm>
            <a:off x="109682" y="2751118"/>
            <a:ext cx="83658" cy="1514356"/>
          </a:xfrm>
          <a:prstGeom prst="roundRect">
            <a:avLst>
              <a:gd name="adj" fmla="val 195349"/>
            </a:avLst>
          </a:prstGeom>
          <a:solidFill>
            <a:srgbClr val="A2B9F9"/>
          </a:solidFill>
          <a:ln/>
        </p:spPr>
        <p:txBody>
          <a:bodyPr/>
          <a:lstStyle/>
          <a:p>
            <a:endParaRPr lang="en-IN"/>
          </a:p>
        </p:txBody>
      </p:sp>
      <p:sp>
        <p:nvSpPr>
          <p:cNvPr id="25" name="Text 11">
            <a:extLst>
              <a:ext uri="{FF2B5EF4-FFF2-40B4-BE49-F238E27FC236}">
                <a16:creationId xmlns:a16="http://schemas.microsoft.com/office/drawing/2014/main" id="{32DAC443-59E1-26AB-EC88-DD452716EF38}"/>
              </a:ext>
            </a:extLst>
          </p:cNvPr>
          <p:cNvSpPr/>
          <p:nvPr/>
        </p:nvSpPr>
        <p:spPr>
          <a:xfrm>
            <a:off x="422340" y="2972336"/>
            <a:ext cx="2988181" cy="317778"/>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400"/>
              </a:lnSpc>
              <a:buNone/>
            </a:pPr>
            <a:r>
              <a:rPr lang="en-US" sz="1950" dirty="0">
                <a:solidFill>
                  <a:srgbClr val="666666"/>
                </a:solidFill>
                <a:latin typeface="Outfit Medium" pitchFamily="34" charset="0"/>
                <a:ea typeface="Outfit Medium" pitchFamily="34" charset="-122"/>
                <a:cs typeface="Outfit Medium" pitchFamily="34" charset="-120"/>
              </a:rPr>
              <a:t>Processor Type </a:t>
            </a:r>
            <a:r>
              <a:rPr lang="en-US" sz="1950" dirty="0">
                <a:solidFill>
                  <a:srgbClr val="000000"/>
                </a:solidFill>
                <a:latin typeface="Outfit Medium" pitchFamily="34" charset="0"/>
                <a:ea typeface="Outfit Medium" pitchFamily="34" charset="-122"/>
                <a:cs typeface="Outfit Medium" pitchFamily="34" charset="-120"/>
              </a:rPr>
              <a:t>↔</a:t>
            </a:r>
            <a:r>
              <a:rPr lang="en-US" sz="1950" dirty="0">
                <a:solidFill>
                  <a:srgbClr val="666666"/>
                </a:solidFill>
                <a:latin typeface="Outfit Medium" pitchFamily="34" charset="0"/>
                <a:ea typeface="Outfit Medium" pitchFamily="34" charset="-122"/>
                <a:cs typeface="Outfit Medium" pitchFamily="34" charset="-120"/>
              </a:rPr>
              <a:t> Price (0.71)</a:t>
            </a:r>
            <a:endParaRPr lang="en-US" sz="1950" dirty="0"/>
          </a:p>
        </p:txBody>
      </p:sp>
      <p:sp>
        <p:nvSpPr>
          <p:cNvPr id="34" name="Text 12">
            <a:extLst>
              <a:ext uri="{FF2B5EF4-FFF2-40B4-BE49-F238E27FC236}">
                <a16:creationId xmlns:a16="http://schemas.microsoft.com/office/drawing/2014/main" id="{5E129590-A26F-15A3-7459-A95655458293}"/>
              </a:ext>
            </a:extLst>
          </p:cNvPr>
          <p:cNvSpPr/>
          <p:nvPr/>
        </p:nvSpPr>
        <p:spPr>
          <a:xfrm>
            <a:off x="422341" y="3409177"/>
            <a:ext cx="5408179" cy="635079"/>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500"/>
              </a:lnSpc>
              <a:buNone/>
            </a:pPr>
            <a:r>
              <a:rPr lang="en-US" sz="1550" dirty="0">
                <a:solidFill>
                  <a:srgbClr val="666666"/>
                </a:solidFill>
                <a:latin typeface="IBM Plex Sans" pitchFamily="34" charset="0"/>
                <a:ea typeface="IBM Plex Sans" pitchFamily="34" charset="-122"/>
                <a:cs typeface="IBM Plex Sans" pitchFamily="34" charset="-120"/>
              </a:rPr>
              <a:t>Processor choice shows a strong pricing effect, with more advanced chipsets pushing devices into premium segments.</a:t>
            </a:r>
            <a:endParaRPr lang="en-US" sz="1550" dirty="0"/>
          </a:p>
        </p:txBody>
      </p:sp>
      <p:sp>
        <p:nvSpPr>
          <p:cNvPr id="35" name="Shape 13">
            <a:extLst>
              <a:ext uri="{FF2B5EF4-FFF2-40B4-BE49-F238E27FC236}">
                <a16:creationId xmlns:a16="http://schemas.microsoft.com/office/drawing/2014/main" id="{07A7A6E3-2642-601A-9F88-690B44E0FB34}"/>
              </a:ext>
            </a:extLst>
          </p:cNvPr>
          <p:cNvSpPr/>
          <p:nvPr/>
        </p:nvSpPr>
        <p:spPr>
          <a:xfrm>
            <a:off x="6206609" y="2751118"/>
            <a:ext cx="5875709" cy="1514356"/>
          </a:xfrm>
          <a:prstGeom prst="roundRect">
            <a:avLst>
              <a:gd name="adj" fmla="val 7246"/>
            </a:avLst>
          </a:prstGeom>
          <a:solidFill>
            <a:srgbClr val="FFFFFF">
              <a:alpha val="95000"/>
            </a:srgbClr>
          </a:solidFill>
          <a:ln w="22860">
            <a:solidFill>
              <a:srgbClr val="B5C1E2"/>
            </a:solidFill>
            <a:prstDash val="solid"/>
          </a:ln>
          <a:effectLst>
            <a:outerShdw dist="25400" dir="2700000" algn="bl" rotWithShape="0">
              <a:srgbClr val="B5C1E2">
                <a:alpha val="100000"/>
              </a:srgbClr>
            </a:outerShdw>
          </a:effectLst>
        </p:spPr>
        <p:txBody>
          <a:bodyPr/>
          <a:lstStyle/>
          <a:p>
            <a:endParaRPr lang="en-IN"/>
          </a:p>
        </p:txBody>
      </p:sp>
      <p:sp>
        <p:nvSpPr>
          <p:cNvPr id="36" name="Shape 14">
            <a:extLst>
              <a:ext uri="{FF2B5EF4-FFF2-40B4-BE49-F238E27FC236}">
                <a16:creationId xmlns:a16="http://schemas.microsoft.com/office/drawing/2014/main" id="{E0BF88F0-97A2-7590-5164-97E1B2211D71}"/>
              </a:ext>
            </a:extLst>
          </p:cNvPr>
          <p:cNvSpPr/>
          <p:nvPr/>
        </p:nvSpPr>
        <p:spPr>
          <a:xfrm>
            <a:off x="6183749" y="2751118"/>
            <a:ext cx="83658" cy="1514356"/>
          </a:xfrm>
          <a:prstGeom prst="roundRect">
            <a:avLst>
              <a:gd name="adj" fmla="val 195349"/>
            </a:avLst>
          </a:prstGeom>
          <a:solidFill>
            <a:srgbClr val="A2B9F9"/>
          </a:solidFill>
          <a:ln/>
        </p:spPr>
        <p:txBody>
          <a:bodyPr/>
          <a:lstStyle/>
          <a:p>
            <a:endParaRPr lang="en-IN"/>
          </a:p>
        </p:txBody>
      </p:sp>
      <p:sp>
        <p:nvSpPr>
          <p:cNvPr id="37" name="Text 15">
            <a:extLst>
              <a:ext uri="{FF2B5EF4-FFF2-40B4-BE49-F238E27FC236}">
                <a16:creationId xmlns:a16="http://schemas.microsoft.com/office/drawing/2014/main" id="{09823CAB-2704-1D0E-4793-ACC3EF2DA512}"/>
              </a:ext>
            </a:extLst>
          </p:cNvPr>
          <p:cNvSpPr/>
          <p:nvPr/>
        </p:nvSpPr>
        <p:spPr>
          <a:xfrm>
            <a:off x="6496408" y="2972336"/>
            <a:ext cx="2269784" cy="317778"/>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400"/>
              </a:lnSpc>
              <a:buNone/>
            </a:pPr>
            <a:r>
              <a:rPr lang="en-US" sz="1950" dirty="0">
                <a:solidFill>
                  <a:srgbClr val="666666"/>
                </a:solidFill>
                <a:latin typeface="Outfit Medium" pitchFamily="34" charset="0"/>
                <a:ea typeface="Outfit Medium" pitchFamily="34" charset="-122"/>
                <a:cs typeface="Outfit Medium" pitchFamily="34" charset="-120"/>
              </a:rPr>
              <a:t>Brand </a:t>
            </a:r>
            <a:r>
              <a:rPr lang="en-US" sz="1950" dirty="0">
                <a:solidFill>
                  <a:srgbClr val="000000"/>
                </a:solidFill>
                <a:latin typeface="Outfit Medium" pitchFamily="34" charset="0"/>
                <a:ea typeface="Outfit Medium" pitchFamily="34" charset="-122"/>
                <a:cs typeface="Outfit Medium" pitchFamily="34" charset="-120"/>
              </a:rPr>
              <a:t>↔</a:t>
            </a:r>
            <a:r>
              <a:rPr lang="en-US" sz="1950" dirty="0">
                <a:solidFill>
                  <a:srgbClr val="666666"/>
                </a:solidFill>
                <a:latin typeface="Outfit Medium" pitchFamily="34" charset="0"/>
                <a:ea typeface="Outfit Medium" pitchFamily="34" charset="-122"/>
                <a:cs typeface="Outfit Medium" pitchFamily="34" charset="-120"/>
              </a:rPr>
              <a:t> Price (0.46)</a:t>
            </a:r>
            <a:endParaRPr lang="en-US" sz="1950" dirty="0"/>
          </a:p>
        </p:txBody>
      </p:sp>
      <p:sp>
        <p:nvSpPr>
          <p:cNvPr id="38" name="Text 16">
            <a:extLst>
              <a:ext uri="{FF2B5EF4-FFF2-40B4-BE49-F238E27FC236}">
                <a16:creationId xmlns:a16="http://schemas.microsoft.com/office/drawing/2014/main" id="{7990A5C1-F613-08FA-1122-014324FD5A01}"/>
              </a:ext>
            </a:extLst>
          </p:cNvPr>
          <p:cNvSpPr/>
          <p:nvPr/>
        </p:nvSpPr>
        <p:spPr>
          <a:xfrm>
            <a:off x="6496408" y="3409177"/>
            <a:ext cx="5408179" cy="635079"/>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500"/>
              </a:lnSpc>
              <a:buNone/>
            </a:pPr>
            <a:r>
              <a:rPr lang="en-US" sz="1550" dirty="0">
                <a:solidFill>
                  <a:srgbClr val="666666"/>
                </a:solidFill>
                <a:latin typeface="IBM Plex Sans" pitchFamily="34" charset="0"/>
                <a:ea typeface="IBM Plex Sans" pitchFamily="34" charset="-122"/>
                <a:cs typeface="IBM Plex Sans" pitchFamily="34" charset="-120"/>
              </a:rPr>
              <a:t>Brand strength has a moderate relationship with price, reflecting premium positioning and perceived value.</a:t>
            </a:r>
            <a:endParaRPr lang="en-US" sz="1550" dirty="0"/>
          </a:p>
        </p:txBody>
      </p:sp>
      <p:sp>
        <p:nvSpPr>
          <p:cNvPr id="39" name="Shape 17">
            <a:extLst>
              <a:ext uri="{FF2B5EF4-FFF2-40B4-BE49-F238E27FC236}">
                <a16:creationId xmlns:a16="http://schemas.microsoft.com/office/drawing/2014/main" id="{B5A6ACBA-0654-DCE4-5A0A-2C02B47306F6}"/>
              </a:ext>
            </a:extLst>
          </p:cNvPr>
          <p:cNvSpPr/>
          <p:nvPr/>
        </p:nvSpPr>
        <p:spPr>
          <a:xfrm>
            <a:off x="3140472" y="4720386"/>
            <a:ext cx="5875709" cy="1514356"/>
          </a:xfrm>
          <a:prstGeom prst="roundRect">
            <a:avLst>
              <a:gd name="adj" fmla="val 7246"/>
            </a:avLst>
          </a:prstGeom>
          <a:solidFill>
            <a:srgbClr val="FFFFFF">
              <a:alpha val="95000"/>
            </a:srgbClr>
          </a:solidFill>
          <a:ln w="22860">
            <a:solidFill>
              <a:srgbClr val="B5C1E2"/>
            </a:solidFill>
            <a:prstDash val="solid"/>
          </a:ln>
          <a:effectLst>
            <a:outerShdw dist="25400" dir="2700000" algn="bl" rotWithShape="0">
              <a:srgbClr val="B5C1E2">
                <a:alpha val="100000"/>
              </a:srgbClr>
            </a:outerShdw>
          </a:effectLst>
        </p:spPr>
        <p:txBody>
          <a:bodyPr/>
          <a:lstStyle/>
          <a:p>
            <a:endParaRPr lang="en-IN"/>
          </a:p>
        </p:txBody>
      </p:sp>
      <p:sp>
        <p:nvSpPr>
          <p:cNvPr id="40" name="Shape 18">
            <a:extLst>
              <a:ext uri="{FF2B5EF4-FFF2-40B4-BE49-F238E27FC236}">
                <a16:creationId xmlns:a16="http://schemas.microsoft.com/office/drawing/2014/main" id="{8FCA7BE0-5BFC-B173-DD0A-476AF1F8F00B}"/>
              </a:ext>
            </a:extLst>
          </p:cNvPr>
          <p:cNvSpPr/>
          <p:nvPr/>
        </p:nvSpPr>
        <p:spPr>
          <a:xfrm>
            <a:off x="3102853" y="4653762"/>
            <a:ext cx="83658" cy="1514356"/>
          </a:xfrm>
          <a:prstGeom prst="roundRect">
            <a:avLst>
              <a:gd name="adj" fmla="val 195349"/>
            </a:avLst>
          </a:prstGeom>
          <a:solidFill>
            <a:srgbClr val="A2B9F9"/>
          </a:solidFill>
          <a:ln/>
        </p:spPr>
        <p:txBody>
          <a:bodyPr/>
          <a:lstStyle/>
          <a:p>
            <a:endParaRPr lang="en-IN"/>
          </a:p>
        </p:txBody>
      </p:sp>
      <p:sp>
        <p:nvSpPr>
          <p:cNvPr id="41" name="Text 19">
            <a:extLst>
              <a:ext uri="{FF2B5EF4-FFF2-40B4-BE49-F238E27FC236}">
                <a16:creationId xmlns:a16="http://schemas.microsoft.com/office/drawing/2014/main" id="{1D6B091C-8AF4-E8E9-3156-1925F8225307}"/>
              </a:ext>
            </a:extLst>
          </p:cNvPr>
          <p:cNvSpPr/>
          <p:nvPr/>
        </p:nvSpPr>
        <p:spPr>
          <a:xfrm>
            <a:off x="3415512" y="4874980"/>
            <a:ext cx="2718686" cy="317778"/>
          </a:xfrm>
          <a:prstGeom prst="rect">
            <a:avLst/>
          </a:prstGeom>
          <a:noFill/>
          <a:ln/>
        </p:spPr>
        <p:txBody>
          <a:bodyPr wrap="non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400"/>
              </a:lnSpc>
              <a:buNone/>
            </a:pPr>
            <a:r>
              <a:rPr lang="en-US" sz="1950" dirty="0">
                <a:solidFill>
                  <a:srgbClr val="666666"/>
                </a:solidFill>
                <a:latin typeface="Outfit Medium" pitchFamily="34" charset="0"/>
                <a:ea typeface="Outfit Medium" pitchFamily="34" charset="-122"/>
                <a:cs typeface="Outfit Medium" pitchFamily="34" charset="-120"/>
              </a:rPr>
              <a:t>Display Size </a:t>
            </a:r>
            <a:r>
              <a:rPr lang="en-US" sz="1950" dirty="0">
                <a:solidFill>
                  <a:srgbClr val="000000"/>
                </a:solidFill>
                <a:latin typeface="Outfit Medium" pitchFamily="34" charset="0"/>
                <a:ea typeface="Outfit Medium" pitchFamily="34" charset="-122"/>
                <a:cs typeface="Outfit Medium" pitchFamily="34" charset="-120"/>
              </a:rPr>
              <a:t>↔</a:t>
            </a:r>
            <a:r>
              <a:rPr lang="en-US" sz="1950" dirty="0">
                <a:solidFill>
                  <a:srgbClr val="666666"/>
                </a:solidFill>
                <a:latin typeface="Outfit Medium" pitchFamily="34" charset="0"/>
                <a:ea typeface="Outfit Medium" pitchFamily="34" charset="-122"/>
                <a:cs typeface="Outfit Medium" pitchFamily="34" charset="-120"/>
              </a:rPr>
              <a:t> Price (0.33)</a:t>
            </a:r>
            <a:endParaRPr lang="en-US" sz="1950" dirty="0"/>
          </a:p>
        </p:txBody>
      </p:sp>
      <p:sp>
        <p:nvSpPr>
          <p:cNvPr id="42" name="Text 20">
            <a:extLst>
              <a:ext uri="{FF2B5EF4-FFF2-40B4-BE49-F238E27FC236}">
                <a16:creationId xmlns:a16="http://schemas.microsoft.com/office/drawing/2014/main" id="{73C685BF-587D-62A4-0727-1CE376F19D13}"/>
              </a:ext>
            </a:extLst>
          </p:cNvPr>
          <p:cNvSpPr/>
          <p:nvPr/>
        </p:nvSpPr>
        <p:spPr>
          <a:xfrm>
            <a:off x="3415512" y="5311821"/>
            <a:ext cx="5408179" cy="635079"/>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500"/>
              </a:lnSpc>
              <a:buNone/>
            </a:pPr>
            <a:r>
              <a:rPr lang="en-US" sz="1550" dirty="0">
                <a:solidFill>
                  <a:srgbClr val="666666"/>
                </a:solidFill>
                <a:latin typeface="IBM Plex Sans" pitchFamily="34" charset="0"/>
                <a:ea typeface="IBM Plex Sans" pitchFamily="34" charset="-122"/>
                <a:cs typeface="IBM Plex Sans" pitchFamily="34" charset="-120"/>
              </a:rPr>
              <a:t>Larger displays are somewhat associated with higher prices, but the effect is weaker than core performance features.</a:t>
            </a:r>
            <a:endParaRPr lang="en-US" sz="1550" dirty="0"/>
          </a:p>
        </p:txBody>
      </p:sp>
      <p:sp>
        <p:nvSpPr>
          <p:cNvPr id="43" name="Text 21">
            <a:extLst>
              <a:ext uri="{FF2B5EF4-FFF2-40B4-BE49-F238E27FC236}">
                <a16:creationId xmlns:a16="http://schemas.microsoft.com/office/drawing/2014/main" id="{F37B2B3E-203F-6C5D-5792-2B806D230BC5}"/>
              </a:ext>
            </a:extLst>
          </p:cNvPr>
          <p:cNvSpPr/>
          <p:nvPr/>
        </p:nvSpPr>
        <p:spPr>
          <a:xfrm>
            <a:off x="-413979" y="6201430"/>
            <a:ext cx="12064628" cy="635079"/>
          </a:xfrm>
          <a:prstGeom prst="rect">
            <a:avLst/>
          </a:prstGeom>
          <a:noFill/>
          <a:ln/>
        </p:spPr>
        <p:txBody>
          <a:bodyPr wrap="square"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500"/>
              </a:lnSpc>
              <a:buNone/>
            </a:pPr>
            <a:endParaRPr lang="en-US" sz="1550" dirty="0"/>
          </a:p>
        </p:txBody>
      </p:sp>
    </p:spTree>
    <p:extLst>
      <p:ext uri="{BB962C8B-B14F-4D97-AF65-F5344CB8AC3E}">
        <p14:creationId xmlns:p14="http://schemas.microsoft.com/office/powerpoint/2010/main" val="25215096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100000">
              <a:srgbClr val="CCECFF"/>
            </a:gs>
            <a:gs pos="18000">
              <a:srgbClr val="FFCCFF"/>
            </a:gs>
          </a:gsLst>
          <a:lin ang="5400000" scaled="1"/>
        </a:gradFill>
        <a:effectLst/>
      </p:bgPr>
    </p:bg>
    <p:spTree>
      <p:nvGrpSpPr>
        <p:cNvPr id="1" name="">
          <a:extLst>
            <a:ext uri="{FF2B5EF4-FFF2-40B4-BE49-F238E27FC236}">
              <a16:creationId xmlns:a16="http://schemas.microsoft.com/office/drawing/2014/main" id="{884A37EC-AF72-F5CC-4D6E-75F03CC152D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5B319CE-283D-AC67-0A96-809AA289D0FF}"/>
              </a:ext>
            </a:extLst>
          </p:cNvPr>
          <p:cNvSpPr txBox="1"/>
          <p:nvPr/>
        </p:nvSpPr>
        <p:spPr>
          <a:xfrm>
            <a:off x="6449962" y="5690420"/>
            <a:ext cx="5015208" cy="1015663"/>
          </a:xfrm>
          <a:prstGeom prst="rect">
            <a:avLst/>
          </a:prstGeom>
          <a:noFill/>
        </p:spPr>
        <p:txBody>
          <a:bodyPr wrap="square" rtlCol="0">
            <a:spAutoFit/>
          </a:bodyPr>
          <a:lstStyle/>
          <a:p>
            <a:r>
              <a:rPr lang="en-US" sz="6000" dirty="0"/>
              <a:t>Thank You!!!</a:t>
            </a:r>
            <a:endParaRPr lang="en-IN" sz="6000" dirty="0"/>
          </a:p>
        </p:txBody>
      </p:sp>
      <p:pic>
        <p:nvPicPr>
          <p:cNvPr id="4" name="Picture 3">
            <a:extLst>
              <a:ext uri="{FF2B5EF4-FFF2-40B4-BE49-F238E27FC236}">
                <a16:creationId xmlns:a16="http://schemas.microsoft.com/office/drawing/2014/main" id="{DFBBA712-BDDC-9D35-6E3A-FB91FFAB29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4902" y="279736"/>
            <a:ext cx="10323871" cy="5282865"/>
          </a:xfrm>
          <a:prstGeom prst="rect">
            <a:avLst/>
          </a:prstGeom>
        </p:spPr>
      </p:pic>
    </p:spTree>
    <p:extLst>
      <p:ext uri="{BB962C8B-B14F-4D97-AF65-F5344CB8AC3E}">
        <p14:creationId xmlns:p14="http://schemas.microsoft.com/office/powerpoint/2010/main" val="6760570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TotalTime>
  <Words>876</Words>
  <Application>Microsoft Office PowerPoint</Application>
  <PresentationFormat>Widescreen</PresentationFormat>
  <Paragraphs>97</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Calibri Light</vt:lpstr>
      <vt:lpstr>IBM Plex Sans</vt:lpstr>
      <vt:lpstr>Outfit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Namrata Chirag</dc:creator>
  <cp:lastModifiedBy>Namrata Chirag</cp:lastModifiedBy>
  <cp:revision>1</cp:revision>
  <dcterms:created xsi:type="dcterms:W3CDTF">2026-04-25T06:23:13Z</dcterms:created>
  <dcterms:modified xsi:type="dcterms:W3CDTF">2026-04-25T07:22:05Z</dcterms:modified>
</cp:coreProperties>
</file>